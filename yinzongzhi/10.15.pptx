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3" r:id="rId3"/>
    <p:sldId id="264" r:id="rId4"/>
    <p:sldId id="256" r:id="rId5"/>
    <p:sldId id="257" r:id="rId6"/>
    <p:sldId id="258" r:id="rId7"/>
    <p:sldId id="259" r:id="rId8"/>
    <p:sldId id="261" r:id="rId9"/>
    <p:sldId id="262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40" y="473710"/>
            <a:ext cx="6496050" cy="52673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 descr="00_laboratory_pla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7980" y="0"/>
            <a:ext cx="107765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99390" y="270510"/>
            <a:ext cx="117925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Robot digital twin systems in manufacturing: Technologies, applications, trends and challenges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199390" y="864870"/>
            <a:ext cx="802830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/>
              <a:t>贡献一：提出四层机器人数字孪生系统架构。</a:t>
            </a:r>
            <a:endParaRPr lang="en-US"/>
          </a:p>
          <a:p>
            <a:pPr algn="l"/>
            <a:r>
              <a:rPr lang="en-US"/>
              <a:t>物理层（Physical Layer）</a:t>
            </a:r>
            <a:r>
              <a:rPr lang="zh-CN" altLang="en-US"/>
              <a:t>：真实物理设备和数据采集</a:t>
            </a:r>
            <a:endParaRPr lang="zh-CN" altLang="en-US"/>
          </a:p>
          <a:p>
            <a:pPr algn="l"/>
            <a:r>
              <a:rPr lang="en-US"/>
              <a:t>连接层（Connection Layer）</a:t>
            </a:r>
            <a:r>
              <a:rPr lang="zh-CN" altLang="en-US"/>
              <a:t>：连接虚拟与真实系统</a:t>
            </a:r>
            <a:endParaRPr lang="zh-CN" altLang="en-US"/>
          </a:p>
          <a:p>
            <a:pPr algn="l"/>
            <a:r>
              <a:rPr lang="en-US"/>
              <a:t>虚拟层（Virtual Layer）</a:t>
            </a:r>
            <a:r>
              <a:rPr lang="zh-CN" altLang="en-US"/>
              <a:t>：建立与更新数字模型</a:t>
            </a:r>
            <a:endParaRPr lang="zh-CN" altLang="en-US"/>
          </a:p>
          <a:p>
            <a:pPr algn="l"/>
            <a:r>
              <a:rPr lang="en-US"/>
              <a:t>支撑层（Supporting Layer)</a:t>
            </a:r>
            <a:r>
              <a:rPr lang="zh-CN" altLang="en-US"/>
              <a:t>：分析、预测和优化</a:t>
            </a:r>
            <a:endParaRPr lang="zh-CN" altLang="en-US"/>
          </a:p>
          <a:p>
            <a:pPr algn="l"/>
            <a:endParaRPr lang="en-US"/>
          </a:p>
          <a:p>
            <a:pPr algn="l"/>
            <a:r>
              <a:rPr lang="en-US"/>
              <a:t>贡献二：全面分析 RDT 的制造业应用。  监测</a:t>
            </a:r>
            <a:r>
              <a:rPr lang="zh-CN" altLang="en-US"/>
              <a:t>，可视化，预测，优化</a:t>
            </a:r>
            <a:endParaRPr lang="en-US"/>
          </a:p>
          <a:p>
            <a:pPr algn="l"/>
            <a:endParaRPr lang="en-US"/>
          </a:p>
          <a:p>
            <a:pPr algn="l"/>
            <a:r>
              <a:rPr lang="en-US"/>
              <a:t>贡献三：总结 RDT 发展趋势。</a:t>
            </a:r>
            <a:endParaRPr lang="en-US"/>
          </a:p>
          <a:p>
            <a:pPr algn="l"/>
            <a:r>
              <a:rPr lang="en-US"/>
              <a:t>贡献四：分析主要挑战与潜在解决方案。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199390" y="3799205"/>
            <a:ext cx="6990715" cy="17532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不足：数据管理（Data Management）</a:t>
            </a:r>
            <a:endParaRPr lang="zh-CN" altLang="en-US"/>
          </a:p>
          <a:p>
            <a:pPr algn="l"/>
            <a:r>
              <a:rPr lang="zh-CN" altLang="en-US"/>
              <a:t>实时性能（Real-time Performance）</a:t>
            </a:r>
            <a:endParaRPr lang="zh-CN" altLang="en-US"/>
          </a:p>
          <a:p>
            <a:pPr algn="l"/>
            <a:r>
              <a:rPr lang="zh-CN" altLang="en-US"/>
              <a:t>数据隐私、安全与可靠性（Data Privacy, Security and Safety）</a:t>
            </a:r>
            <a:endParaRPr lang="zh-CN" altLang="en-US"/>
          </a:p>
          <a:p>
            <a:pPr algn="l"/>
            <a:r>
              <a:rPr lang="zh-CN" altLang="en-US"/>
              <a:t>高保真建模（High-fidelity Modelling）</a:t>
            </a:r>
            <a:endParaRPr lang="zh-CN" altLang="en-US"/>
          </a:p>
          <a:p>
            <a:pPr algn="l"/>
            <a:r>
              <a:rPr lang="zh-CN" altLang="en-US"/>
              <a:t>互操作性（Interoperability）</a:t>
            </a:r>
            <a:endParaRPr lang="zh-CN" altLang="en-US"/>
          </a:p>
          <a:p>
            <a:pPr algn="l"/>
            <a:r>
              <a:rPr lang="zh-CN" altLang="en-US"/>
              <a:t>开发成本（Development Costs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640" y="372745"/>
            <a:ext cx="9477375" cy="5962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0" y="355600"/>
            <a:ext cx="1181862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机器人路径规划优化:</a:t>
            </a:r>
            <a:endParaRPr lang="en-US"/>
          </a:p>
          <a:p>
            <a:r>
              <a:rPr lang="en-US"/>
              <a:t>蚁群优化算法（Ant Colony Optimisation，ACO）:寻找工业机器人在装配抓取与放置任务中的最短无碰撞路径。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zh-CN" altLang="en-US"/>
              <a:t>用</a:t>
            </a:r>
            <a:r>
              <a:rPr lang="en-US"/>
              <a:t>知识图谱</a:t>
            </a:r>
            <a:r>
              <a:rPr lang="zh-CN" altLang="en-US"/>
              <a:t>能否让机器人学习材料、设备和工艺之间的知识关系？</a:t>
            </a:r>
            <a:endParaRPr lang="zh-CN" altLang="en-US"/>
          </a:p>
          <a:p>
            <a:r>
              <a:rPr lang="zh-CN" altLang="en-US"/>
              <a:t>文章中 提到了一种基于粒子滤波（Particle Filter）的状态预测框架。该框架结合了基于物理原理和数据驱动的退化模型，能够准确预测未来裂纹的发展情况以及设备的剩余使用寿命。这些预测结果对于制定维护计划和分配维护资源至关重要</a:t>
            </a:r>
            <a:endParaRPr lang="zh-CN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40970" y="3940810"/>
            <a:ext cx="1001268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执行之前进行多层验证约束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执行中的异常：采用分层混合架构：平常时机器人各行其职，遇到异常就最高优先级的异常清理。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异常处理结束后记录：知识图谱，把异常作为经验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20700" y="333375"/>
            <a:ext cx="1079690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Safe-SDL:Establishing Safety Boundaries and Control Mechanisms for AI-Driven Self-Driving Laboratories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214630" y="1144905"/>
            <a:ext cx="1126871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800"/>
              <a:t>1.我们系统分析自主实验室特有的风险格局，建立一种分类体系，覆盖从基础模型局限到机器人执行失败的各种脆弱性</a:t>
            </a:r>
            <a:endParaRPr lang="en-US" sz="2800"/>
          </a:p>
          <a:p>
            <a:pPr algn="l"/>
            <a:r>
              <a:rPr lang="en-US" sz="2800"/>
              <a:t>         识别哪些情况可能发生危险</a:t>
            </a:r>
            <a:endParaRPr lang="en-US" sz="2800"/>
          </a:p>
          <a:p>
            <a:pPr algn="l"/>
            <a:endParaRPr lang="en-US" sz="2800"/>
          </a:p>
          <a:p>
            <a:pPr algn="l"/>
            <a:endParaRPr lang="en-US" sz="2800"/>
          </a:p>
          <a:p>
            <a:pPr algn="l"/>
            <a:r>
              <a:rPr lang="en-US" sz="2800"/>
              <a:t>2.我们提出一种分层安全架构，将运行设计域、控制屏障函数和事务式安全协议相结合，提供具有数学基础的安全保证</a:t>
            </a:r>
            <a:endParaRPr lang="en-US" sz="2800"/>
          </a:p>
          <a:p>
            <a:pPr algn="l"/>
            <a:r>
              <a:rPr lang="en-US" sz="2800"/>
              <a:t>	在实验执行前和执行过程中阻止危险</a:t>
            </a:r>
            <a:endParaRPr lang="en-US" sz="2800"/>
          </a:p>
          <a:p>
            <a:pPr algn="l"/>
            <a:r>
              <a:rPr lang="en-US" sz="2800"/>
              <a:t>			</a:t>
            </a:r>
            <a:endParaRPr lang="en-US" sz="2800"/>
          </a:p>
          <a:p>
            <a:pPr algn="l"/>
            <a:r>
              <a:rPr lang="en-US" sz="2800"/>
              <a:t>3.我们综合UniLabOS[10]、Osprey[11]和Safe-ROS[4]等系统的现有实现方法，识别能够推动安全自主科学落地的设计模式</a:t>
            </a:r>
            <a:endParaRPr lang="en-US" sz="2800"/>
          </a:p>
          <a:p>
            <a:pPr algn="l"/>
            <a:r>
              <a:rPr lang="en-US" sz="2800"/>
              <a:t>	总结实际部署安全机制的方法</a:t>
            </a:r>
            <a:endParaRPr lang="en-US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990" y="171450"/>
            <a:ext cx="7762875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Table 4"/>
          <p:cNvGraphicFramePr/>
          <p:nvPr/>
        </p:nvGraphicFramePr>
        <p:xfrm>
          <a:off x="1121410" y="912495"/>
          <a:ext cx="8534400" cy="5033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/>
                <a:gridCol w="4267200"/>
              </a:tblGrid>
              <a:tr h="37020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ym typeface="+mn-ea"/>
                        </a:rPr>
                        <a:t>下一步重点</a:t>
                      </a:r>
                      <a:endParaRPr lang="zh-CN" altLang="en-US" sz="1800" b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ym typeface="+mn-ea"/>
                        </a:rPr>
                        <a:t>详细</a:t>
                      </a:r>
                      <a:endParaRPr lang="zh-CN" altLang="en-US" sz="1800" b="0"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ym typeface="+mn-ea"/>
                        </a:rPr>
                        <a:t>配方与材料状态</a:t>
                      </a:r>
                      <a:endParaRPr lang="en-US" sz="1800" b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 b="0">
                          <a:sym typeface="+mn-ea"/>
                        </a:rPr>
                        <a:t>记录组分、实际加料量、浓度、批次，以及材料在各步骤的变化</a:t>
                      </a:r>
                      <a:endParaRPr lang="en-US" sz="1800" b="0"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影响性能的工艺过程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记录温度历程、搅拌时间、打印与固化参数；优先为实验表明重要的变量建模</a:t>
                      </a:r>
                      <a:endParaRPr lang="en-US" sz="1800"/>
                    </a:p>
                    <a:p>
                      <a:pPr>
                        <a:buNone/>
                      </a:pPr>
                      <a:endParaRPr lang="en-US" b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表征数据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接入导电率、流变、力学和成型质量的真实测量，绑定样品编号与测试条件</a:t>
                      </a:r>
                      <a:endParaRPr lang="en-US" sz="1800"/>
                    </a:p>
                    <a:p>
                      <a:pPr>
                        <a:buNone/>
                      </a:pPr>
                      <a:endParaRPr lang="en-US" b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性能预测模型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学习“配方＋工艺 → 性能”，同时估计预测的不确定性</a:t>
                      </a:r>
                      <a:endParaRPr lang="en-US" sz="1800"/>
                    </a:p>
                    <a:p>
                      <a:pPr>
                        <a:buNone/>
                      </a:pPr>
                      <a:endParaRPr lang="en-US" b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下一轮实验选择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根据目标性能与已有结果，推荐值得做的下一组配方和工艺</a:t>
                      </a:r>
                      <a:endParaRPr lang="en-US" b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机械臂、升降底座、搬运</a:t>
                      </a:r>
                      <a:endParaRPr lang="en-US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靠执行、确认完成、处理失败即可</a:t>
                      </a:r>
                      <a:endParaRPr lang="en-US" sz="1800"/>
                    </a:p>
                    <a:p>
                      <a:pPr>
                        <a:buNone/>
                      </a:pPr>
                      <a:endParaRPr lang="en-US" b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728345" y="490220"/>
            <a:ext cx="6126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不仅要同步，还要做到预测（预测我们想要预测的一个点）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1340</Words>
  <Application>WPS Presentation</Application>
  <PresentationFormat>宽屏</PresentationFormat>
  <Paragraphs>80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DejaVu Sans</vt:lpstr>
      <vt:lpstr>Arial Black</vt:lpstr>
      <vt:lpstr>微软雅黑</vt:lpstr>
      <vt:lpstr>Droid Sans Fallback</vt:lpstr>
      <vt:lpstr>宋体</vt:lpstr>
      <vt:lpstr>Arial Unicode MS</vt:lpstr>
      <vt:lpstr>EB Garamond 12</vt:lpstr>
      <vt:lpstr>AR PL KaitiM Big5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xhx</cp:lastModifiedBy>
  <cp:revision>7</cp:revision>
  <dcterms:created xsi:type="dcterms:W3CDTF">2026-10-13T00:52:28Z</dcterms:created>
  <dcterms:modified xsi:type="dcterms:W3CDTF">2026-10-13T00:52:28Z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