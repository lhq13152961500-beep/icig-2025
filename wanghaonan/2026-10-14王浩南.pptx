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72" r:id="rId8"/>
    <p:sldId id="260" r:id="rId9"/>
    <p:sldId id="261" r:id="rId10"/>
    <p:sldId id="262" r:id="rId11"/>
    <p:sldId id="263" r:id="rId12"/>
    <p:sldId id="265" r:id="rId13"/>
    <p:sldId id="266" r:id="rId14"/>
    <p:sldId id="267" r:id="rId15"/>
    <p:sldId id="268" r:id="rId16"/>
    <p:sldId id="270" r:id="rId17"/>
    <p:sldId id="271" r:id="rId1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航点</a:t>
            </a:r>
            <a:r>
              <a:rPr lang="zh-CN"/>
              <a:t>预测器</a:t>
            </a:r>
            <a:endParaRPr 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p:nvPr>
        </p:nvSpPr>
        <p:spPr>
          <a:xfrm>
            <a:off x="831851" y="1709738"/>
            <a:ext cx="10515600" cy="2852737"/>
          </a:xfrm>
        </p:spPr>
        <p:txBody>
          <a:bodyPr anchor="b"/>
          <a:lstStyle>
            <a:lvl1pPr>
              <a:buNone/>
              <a:defRPr sz="6000"/>
            </a:lvl1pPr>
          </a:lstStyle>
          <a:p>
            <a:r>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单击此处编辑母版文本样式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a:xfrm>
            <a:off x="838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内容占位符 3"/>
          <p:cNvSpPr>
            <a:spLocks noGrp="1"/>
          </p:cNvSpPr>
          <p:nvPr>
            <p:ph idx="2"/>
          </p:nvPr>
        </p:nvSpPr>
        <p:spPr>
          <a:xfrm>
            <a:off x="6172200" y="1825625"/>
            <a:ext cx="5181600" cy="435133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圆角 4"/>
          <p:cNvSpPr/>
          <p:nvPr/>
        </p:nvSpPr>
        <p:spPr>
          <a:xfrm>
            <a:off x="9223513" y="6530272"/>
            <a:ext cx="2968487" cy="327728"/>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grpSp>
        <p:nvGrpSpPr>
          <p:cNvPr id="8" name="组合 36"/>
          <p:cNvGrpSpPr/>
          <p:nvPr/>
        </p:nvGrpSpPr>
        <p:grpSpPr>
          <a:xfrm rot="15433288">
            <a:off x="2951347" y="-245645"/>
            <a:ext cx="6361278" cy="7047820"/>
            <a:chOff x="4297364" y="903288"/>
            <a:chExt cx="2946834" cy="3067178"/>
          </a:xfrm>
          <a:solidFill>
            <a:schemeClr val="accent1">
              <a:alpha val="3000"/>
            </a:schemeClr>
          </a:solidFill>
        </p:grpSpPr>
        <p:sp>
          <p:nvSpPr>
            <p:cNvPr id="9"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0"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1"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2"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3"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grpSp>
        <p:nvGrpSpPr>
          <p:cNvPr id="14" name="组合 5"/>
          <p:cNvGrpSpPr/>
          <p:nvPr/>
        </p:nvGrpSpPr>
        <p:grpSpPr>
          <a:xfrm>
            <a:off x="-161925" y="129540"/>
            <a:ext cx="2284730" cy="636270"/>
            <a:chOff x="1984" y="111"/>
            <a:chExt cx="3598" cy="1002"/>
          </a:xfrm>
        </p:grpSpPr>
        <p:sp>
          <p:nvSpPr>
            <p:cNvPr id="15"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4"/>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6" name="AUTHOR_1_0"/>
          <p:cNvSpPr>
            <a:spLocks noGrp="1"/>
          </p:cNvSpPr>
          <p:nvPr/>
        </p:nvSpPr>
        <p:spPr>
          <a:xfrm>
            <a:off x="1524000" y="1123950"/>
            <a:ext cx="9144000" cy="952500"/>
          </a:xfrm>
          <a:prstGeom prst="rect">
            <a:avLst/>
          </a:prstGeom>
          <a:noFill/>
          <a:ln w="0">
            <a:noFill/>
          </a:ln>
        </p:spPr>
        <p:txBody>
          <a:bodyPr wrap="square" lIns="0" tIns="0" rIns="0" bIns="0" anchor="t">
            <a:noAutofit/>
          </a:bodyPr>
          <a:lstStyle>
            <a:defPPr algn="ctr">
              <a:defRPr sz="6600" b="0">
                <a:solidFill>
                  <a:srgbClr val="000000"/>
                </a:solidFill>
                <a:latin typeface="微软雅黑" panose="020B0503020204020204" charset="-122"/>
                <a:ea typeface="微软雅黑" panose="020B0503020204020204" charset="-122"/>
                <a:cs typeface="微软雅黑" panose="020B0503020204020204" charset="-122"/>
              </a:defRPr>
            </a:defPPr>
          </a:lstStyle>
          <a:p>
            <a:pPr algn="ctr">
              <a:defRPr sz="6600" b="0">
                <a:solidFill>
                  <a:srgbClr val="000000"/>
                </a:solidFill>
                <a:latin typeface="微软雅黑" panose="020B0503020204020204" charset="-122"/>
                <a:ea typeface="微软雅黑" panose="020B0503020204020204" charset="-122"/>
                <a:cs typeface="微软雅黑" panose="020B0503020204020204" charset="-122"/>
              </a:defRPr>
            </a:pPr>
            <a:r>
              <a:rPr sz="6600" b="0">
                <a:solidFill>
                  <a:srgbClr val="000000"/>
                </a:solidFill>
                <a:latin typeface="微软雅黑" panose="020B0503020204020204" charset="-122"/>
                <a:ea typeface="微软雅黑" panose="020B0503020204020204" charset="-122"/>
                <a:cs typeface="微软雅黑" panose="020B0503020204020204" charset="-122"/>
              </a:rPr>
              <a:t>组会汇报</a:t>
            </a:r>
            <a:endParaRPr sz="6600"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 name="AUTHOR_1_1"/>
          <p:cNvSpPr>
            <a:spLocks noGrp="1"/>
          </p:cNvSpPr>
          <p:nvPr/>
        </p:nvSpPr>
        <p:spPr>
          <a:xfrm>
            <a:off x="904875" y="2400300"/>
            <a:ext cx="10382250" cy="1619250"/>
          </a:xfrm>
          <a:prstGeom prst="rect">
            <a:avLst/>
          </a:prstGeom>
          <a:noFill/>
          <a:ln w="0">
            <a:noFill/>
          </a:ln>
        </p:spPr>
        <p:txBody>
          <a:bodyPr wrap="square" lIns="0" tIns="0" rIns="0" bIns="0" anchor="t">
            <a:noAutofit/>
          </a:bodyPr>
          <a:lstStyle>
            <a:defPPr algn="ctr">
              <a:defRPr sz="2925" b="1">
                <a:solidFill>
                  <a:srgbClr val="000000"/>
                </a:solidFill>
                <a:latin typeface="微软雅黑" panose="020B0503020204020204" charset="-122"/>
                <a:ea typeface="微软雅黑" panose="020B0503020204020204" charset="-122"/>
                <a:cs typeface="微软雅黑" panose="020B0503020204020204" charset="-122"/>
              </a:defRPr>
            </a:defPPr>
          </a:lstStyle>
          <a:p>
            <a:pPr algn="ctr">
              <a:defRPr sz="2925" b="1">
                <a:solidFill>
                  <a:srgbClr val="000000"/>
                </a:solidFill>
                <a:latin typeface="微软雅黑" panose="020B0503020204020204" charset="-122"/>
                <a:ea typeface="微软雅黑" panose="020B0503020204020204" charset="-122"/>
                <a:cs typeface="微软雅黑" panose="020B0503020204020204" charset="-122"/>
              </a:defRPr>
            </a:pPr>
            <a:r>
              <a:rPr sz="2925" b="1">
                <a:solidFill>
                  <a:srgbClr val="000000"/>
                </a:solidFill>
                <a:latin typeface="微软雅黑" panose="020B0503020204020204" charset="-122"/>
                <a:ea typeface="微软雅黑" panose="020B0503020204020204" charset="-122"/>
                <a:cs typeface="微软雅黑" panose="020B0503020204020204" charset="-122"/>
              </a:rPr>
              <a:t>MapNav: A Novel Memory Representation</a:t>
            </a:r>
            <a:endParaRPr sz="2925" b="1">
              <a:solidFill>
                <a:srgbClr val="000000"/>
              </a:solidFill>
              <a:latin typeface="微软雅黑" panose="020B0503020204020204" charset="-122"/>
              <a:ea typeface="微软雅黑" panose="020B0503020204020204" charset="-122"/>
              <a:cs typeface="微软雅黑" panose="020B0503020204020204" charset="-122"/>
            </a:endParaRPr>
          </a:p>
          <a:p>
            <a:pPr algn="ctr">
              <a:defRPr sz="2925" b="1">
                <a:solidFill>
                  <a:srgbClr val="000000"/>
                </a:solidFill>
                <a:latin typeface="微软雅黑" panose="020B0503020204020204" charset="-122"/>
                <a:ea typeface="微软雅黑" panose="020B0503020204020204" charset="-122"/>
                <a:cs typeface="微软雅黑" panose="020B0503020204020204" charset="-122"/>
              </a:defRPr>
            </a:pPr>
            <a:r>
              <a:rPr sz="2925" b="1">
                <a:solidFill>
                  <a:srgbClr val="000000"/>
                </a:solidFill>
                <a:latin typeface="微软雅黑" panose="020B0503020204020204" charset="-122"/>
                <a:ea typeface="微软雅黑" panose="020B0503020204020204" charset="-122"/>
                <a:cs typeface="微软雅黑" panose="020B0503020204020204" charset="-122"/>
              </a:rPr>
              <a:t>via Annotated Semantic Maps</a:t>
            </a:r>
            <a:endParaRPr sz="2925" b="1">
              <a:solidFill>
                <a:srgbClr val="000000"/>
              </a:solidFill>
              <a:latin typeface="微软雅黑" panose="020B0503020204020204" charset="-122"/>
              <a:ea typeface="微软雅黑" panose="020B0503020204020204" charset="-122"/>
              <a:cs typeface="微软雅黑" panose="020B0503020204020204" charset="-122"/>
            </a:endParaRPr>
          </a:p>
          <a:p>
            <a:pPr algn="ctr">
              <a:defRPr sz="2925" b="1">
                <a:solidFill>
                  <a:srgbClr val="000000"/>
                </a:solidFill>
                <a:latin typeface="微软雅黑" panose="020B0503020204020204" charset="-122"/>
                <a:ea typeface="微软雅黑" panose="020B0503020204020204" charset="-122"/>
                <a:cs typeface="微软雅黑" panose="020B0503020204020204" charset="-122"/>
              </a:defRPr>
            </a:pPr>
            <a:r>
              <a:rPr sz="2925" b="1">
                <a:solidFill>
                  <a:srgbClr val="000000"/>
                </a:solidFill>
                <a:latin typeface="微软雅黑" panose="020B0503020204020204" charset="-122"/>
                <a:ea typeface="微软雅黑" panose="020B0503020204020204" charset="-122"/>
                <a:cs typeface="微软雅黑" panose="020B0503020204020204" charset="-122"/>
              </a:rPr>
              <a:t>for VLM-based Vision-and-Language Navigation</a:t>
            </a:r>
            <a:endParaRPr sz="2925" b="1">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3" name="AUTHOR_1_2"/>
          <p:cNvSpPr>
            <a:spLocks noGrp="1"/>
          </p:cNvSpPr>
          <p:nvPr/>
        </p:nvSpPr>
        <p:spPr>
          <a:xfrm>
            <a:off x="1333500" y="4018280"/>
            <a:ext cx="9525000" cy="428625"/>
          </a:xfrm>
          <a:prstGeom prst="rect">
            <a:avLst/>
          </a:prstGeom>
          <a:noFill/>
          <a:ln w="0">
            <a:noFill/>
          </a:ln>
        </p:spPr>
        <p:txBody>
          <a:bodyPr wrap="square" lIns="0" tIns="0" rIns="0" bIns="0" anchor="t">
            <a:noAutofit/>
          </a:bodyPr>
          <a:lstStyle>
            <a:defPPr algn="ctr">
              <a:defRPr sz="2100" b="0">
                <a:solidFill>
                  <a:srgbClr val="4472C4"/>
                </a:solidFill>
                <a:latin typeface="微软雅黑" panose="020B0503020204020204" charset="-122"/>
                <a:ea typeface="微软雅黑" panose="020B0503020204020204" charset="-122"/>
                <a:cs typeface="微软雅黑" panose="020B0503020204020204" charset="-122"/>
              </a:defRPr>
            </a:defPPr>
          </a:lstStyle>
          <a:p>
            <a:pPr algn="ctr">
              <a:defRPr sz="2100" b="0">
                <a:solidFill>
                  <a:srgbClr val="4472C4"/>
                </a:solidFill>
                <a:latin typeface="微软雅黑" panose="020B0503020204020204" charset="-122"/>
                <a:ea typeface="微软雅黑" panose="020B0503020204020204" charset="-122"/>
                <a:cs typeface="微软雅黑" panose="020B0503020204020204" charset="-122"/>
              </a:defRPr>
            </a:pPr>
            <a:r>
              <a:rPr sz="2100" b="0">
                <a:solidFill>
                  <a:srgbClr val="4472C4"/>
                </a:solidFill>
                <a:latin typeface="微软雅黑" panose="020B0503020204020204" charset="-122"/>
                <a:ea typeface="微软雅黑" panose="020B0503020204020204" charset="-122"/>
                <a:cs typeface="微软雅黑" panose="020B0503020204020204" charset="-122"/>
              </a:rPr>
              <a:t>基于标注语义地图的视觉语言导航  </a:t>
            </a:r>
            <a:endParaRPr sz="2100" b="0">
              <a:solidFill>
                <a:srgbClr val="4472C4"/>
              </a:solidFill>
              <a:latin typeface="微软雅黑" panose="020B0503020204020204" charset="-122"/>
              <a:ea typeface="微软雅黑" panose="020B0503020204020204" charset="-122"/>
              <a:cs typeface="微软雅黑" panose="020B0503020204020204" charset="-122"/>
            </a:endParaRPr>
          </a:p>
          <a:p>
            <a:pPr algn="ctr">
              <a:defRPr sz="2100" b="0">
                <a:solidFill>
                  <a:srgbClr val="4472C4"/>
                </a:solidFill>
                <a:latin typeface="微软雅黑" panose="020B0503020204020204" charset="-122"/>
                <a:ea typeface="微软雅黑" panose="020B0503020204020204" charset="-122"/>
                <a:cs typeface="微软雅黑" panose="020B0503020204020204" charset="-122"/>
              </a:defRPr>
            </a:pPr>
            <a:r>
              <a:rPr lang="zh-CN" altLang="en-US" sz="2100" b="0">
                <a:solidFill>
                  <a:srgbClr val="4472C4"/>
                </a:solidFill>
                <a:latin typeface="微软雅黑" panose="020B0503020204020204" charset="-122"/>
                <a:ea typeface="微软雅黑" panose="020B0503020204020204" charset="-122"/>
                <a:cs typeface="微软雅黑" panose="020B0503020204020204" charset="-122"/>
              </a:rPr>
              <a:t>香港科技大学</a:t>
            </a:r>
            <a:r>
              <a:rPr sz="2100" b="0">
                <a:solidFill>
                  <a:srgbClr val="4472C4"/>
                </a:solidFill>
                <a:latin typeface="微软雅黑" panose="020B0503020204020204" charset="-122"/>
                <a:ea typeface="微软雅黑" panose="020B0503020204020204" charset="-122"/>
                <a:cs typeface="微软雅黑" panose="020B0503020204020204" charset="-122"/>
              </a:rPr>
              <a:t>  ACL 2025</a:t>
            </a:r>
            <a:endParaRPr sz="2100" b="0">
              <a:solidFill>
                <a:srgbClr val="4472C4"/>
              </a:solidFill>
              <a:latin typeface="微软雅黑" panose="020B0503020204020204" charset="-122"/>
              <a:ea typeface="微软雅黑" panose="020B0503020204020204" charset="-122"/>
              <a:cs typeface="微软雅黑" panose="020B0503020204020204" charset="-122"/>
            </a:endParaRPr>
          </a:p>
        </p:txBody>
      </p:sp>
      <p:sp>
        <p:nvSpPr>
          <p:cNvPr id="4" name="AUTHOR_1_3"/>
          <p:cNvSpPr>
            <a:spLocks noGrp="1"/>
          </p:cNvSpPr>
          <p:nvPr/>
        </p:nvSpPr>
        <p:spPr>
          <a:xfrm>
            <a:off x="4362450" y="4762500"/>
            <a:ext cx="3371850" cy="523875"/>
          </a:xfrm>
          <a:prstGeom prst="rect">
            <a:avLst/>
          </a:prstGeom>
          <a:noFill/>
          <a:ln w="0">
            <a:noFill/>
          </a:ln>
        </p:spPr>
        <p:txBody>
          <a:bodyPr wrap="square" lIns="0" tIns="0" rIns="0" bIns="0" anchor="t">
            <a:noAutofit/>
          </a:bodyPr>
          <a:lstStyle>
            <a:defPPr algn="ctr">
              <a:defRPr sz="280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ctr">
              <a:defRPr sz="28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800" b="0">
                <a:solidFill>
                  <a:srgbClr val="000000"/>
                </a:solidFill>
                <a:latin typeface="宋体" panose="02010600030101010101" pitchFamily="2" charset="-122"/>
                <a:ea typeface="宋体" panose="02010600030101010101" pitchFamily="2" charset="-122"/>
                <a:cs typeface="宋体" panose="02010600030101010101" pitchFamily="2" charset="-122"/>
              </a:rPr>
              <a:t>汇报人：王浩南</a:t>
            </a:r>
            <a:endParaRPr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
        <p:nvSpPr>
          <p:cNvPr id="5" name="AUTHOR_1_4"/>
          <p:cNvSpPr>
            <a:spLocks noGrp="1"/>
          </p:cNvSpPr>
          <p:nvPr/>
        </p:nvSpPr>
        <p:spPr>
          <a:xfrm>
            <a:off x="5048250" y="5295900"/>
            <a:ext cx="2190750" cy="523875"/>
          </a:xfrm>
          <a:prstGeom prst="rect">
            <a:avLst/>
          </a:prstGeom>
          <a:noFill/>
          <a:ln w="0">
            <a:noFill/>
          </a:ln>
        </p:spPr>
        <p:txBody>
          <a:bodyPr wrap="square" lIns="0" tIns="0" rIns="0" bIns="0" anchor="t">
            <a:noAutofit/>
          </a:bodyPr>
          <a:lstStyle>
            <a:defPPr algn="ctr">
              <a:defRPr sz="280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ctr">
              <a:defRPr sz="28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800" b="0">
                <a:solidFill>
                  <a:srgbClr val="000000"/>
                </a:solidFill>
                <a:latin typeface="宋体" panose="02010600030101010101" pitchFamily="2" charset="-122"/>
                <a:ea typeface="宋体" panose="02010600030101010101" pitchFamily="2" charset="-122"/>
                <a:cs typeface="宋体" panose="02010600030101010101" pitchFamily="2" charset="-122"/>
              </a:rPr>
              <a:t>2026.10.1</a:t>
            </a:r>
            <a:r>
              <a:rPr lang="en-US" sz="2800" b="0">
                <a:solidFill>
                  <a:srgbClr val="000000"/>
                </a:solidFill>
                <a:latin typeface="宋体" panose="02010600030101010101" pitchFamily="2" charset="-122"/>
                <a:ea typeface="宋体" panose="02010600030101010101" pitchFamily="2" charset="-122"/>
                <a:cs typeface="宋体" panose="02010600030101010101" pitchFamily="2" charset="-122"/>
              </a:rPr>
              <a:t>4</a:t>
            </a:r>
            <a:endParaRPr 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ctr">
              <a:defRPr sz="2800" b="0">
                <a:solidFill>
                  <a:srgbClr val="000000"/>
                </a:solidFill>
                <a:latin typeface="宋体" panose="02010600030101010101" pitchFamily="2" charset="-122"/>
                <a:ea typeface="宋体" panose="02010600030101010101" pitchFamily="2" charset="-122"/>
                <a:cs typeface="宋体" panose="02010600030101010101" pitchFamily="2" charset="-122"/>
              </a:defRPr>
            </a:pPr>
            <a:endParaRPr lang="en-US"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8"/>
          <p:cNvGrpSpPr/>
          <p:nvPr/>
        </p:nvGrpSpPr>
        <p:grpSpPr>
          <a:xfrm rot="15433288">
            <a:off x="3218572" y="-499582"/>
            <a:ext cx="6361278" cy="7047820"/>
            <a:chOff x="4297364" y="903288"/>
            <a:chExt cx="2946834" cy="3067178"/>
          </a:xfrm>
          <a:solidFill>
            <a:schemeClr val="bg1">
              <a:lumMod val="65000"/>
              <a:alpha val="3000"/>
            </a:schemeClr>
          </a:solidFill>
        </p:grpSpPr>
        <p:sp>
          <p:nvSpPr>
            <p:cNvPr id="5"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6"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7"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8" name="Freeform 10"/>
            <p:cNvSpPr/>
            <p:nvPr/>
          </p:nvSpPr>
          <p:spPr bwMode="auto">
            <a:xfrm rot="5374475">
              <a:off x="4942544" y="1669490"/>
              <a:ext cx="2819189" cy="1782764"/>
            </a:xfrm>
            <a:prstGeom prst="halfFrame">
              <a:avLst>
                <a:gd name="adj1" fmla="val 9115"/>
                <a:gd name="adj2" fmla="val 9656"/>
              </a:avLst>
            </a:prstGeom>
            <a:no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9"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grpSp>
        <p:nvGrpSpPr>
          <p:cNvPr id="10" name="组合 6"/>
          <p:cNvGrpSpPr/>
          <p:nvPr/>
        </p:nvGrpSpPr>
        <p:grpSpPr>
          <a:xfrm>
            <a:off x="-161925" y="129540"/>
            <a:ext cx="2284730" cy="636270"/>
            <a:chOff x="1984" y="111"/>
            <a:chExt cx="3598" cy="1002"/>
          </a:xfrm>
        </p:grpSpPr>
        <p:sp>
          <p:nvSpPr>
            <p:cNvPr id="11"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3" name="矩形: 圆角 4"/>
          <p:cNvSpPr/>
          <p:nvPr/>
        </p:nvSpPr>
        <p:spPr>
          <a:xfrm>
            <a:off x="9223513" y="6530272"/>
            <a:ext cx="2968487" cy="327728"/>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3" name="AUTHOR_2_0"/>
          <p:cNvSpPr>
            <a:spLocks noGrp="1"/>
          </p:cNvSpPr>
          <p:nvPr/>
        </p:nvSpPr>
        <p:spPr>
          <a:xfrm>
            <a:off x="2990850" y="2133600"/>
            <a:ext cx="1952625" cy="2124075"/>
          </a:xfrm>
          <a:prstGeom prst="rect">
            <a:avLst/>
          </a:prstGeom>
          <a:noFill/>
          <a:ln w="0">
            <a:noFill/>
          </a:ln>
        </p:spPr>
        <p:txBody>
          <a:bodyPr wrap="square" lIns="0" tIns="0" rIns="0" bIns="0" anchor="t">
            <a:noAutofit/>
          </a:bodyPr>
          <a:lstStyle>
            <a:defPPr algn="ctr">
              <a:defRPr sz="6600" b="1">
                <a:solidFill>
                  <a:srgbClr val="000000"/>
                </a:solidFill>
                <a:latin typeface="微软雅黑" panose="020B0503020204020204" charset="-122"/>
                <a:ea typeface="微软雅黑" panose="020B0503020204020204" charset="-122"/>
                <a:cs typeface="微软雅黑" panose="020B0503020204020204" charset="-122"/>
              </a:defRPr>
            </a:defPPr>
          </a:lstStyle>
          <a:p>
            <a:pPr algn="ctr">
              <a:defRPr sz="6600" b="1">
                <a:solidFill>
                  <a:srgbClr val="000000"/>
                </a:solidFill>
                <a:latin typeface="微软雅黑" panose="020B0503020204020204" charset="-122"/>
                <a:ea typeface="微软雅黑" panose="020B0503020204020204" charset="-122"/>
                <a:cs typeface="微软雅黑" panose="020B0503020204020204" charset="-122"/>
              </a:defRPr>
            </a:pPr>
            <a:r>
              <a:rPr sz="6600" b="1">
                <a:solidFill>
                  <a:srgbClr val="000000"/>
                </a:solidFill>
                <a:latin typeface="微软雅黑" panose="020B0503020204020204" charset="-122"/>
                <a:ea typeface="微软雅黑" panose="020B0503020204020204" charset="-122"/>
                <a:cs typeface="微软雅黑" panose="020B0503020204020204" charset="-122"/>
              </a:rPr>
              <a:t>目</a:t>
            </a:r>
            <a:endParaRPr sz="6600" b="1">
              <a:solidFill>
                <a:srgbClr val="000000"/>
              </a:solidFill>
              <a:latin typeface="微软雅黑" panose="020B0503020204020204" charset="-122"/>
              <a:ea typeface="微软雅黑" panose="020B0503020204020204" charset="-122"/>
              <a:cs typeface="微软雅黑" panose="020B0503020204020204" charset="-122"/>
            </a:endParaRPr>
          </a:p>
          <a:p>
            <a:pPr algn="ctr">
              <a:defRPr sz="6600" b="1">
                <a:solidFill>
                  <a:srgbClr val="000000"/>
                </a:solidFill>
                <a:latin typeface="微软雅黑" panose="020B0503020204020204" charset="-122"/>
                <a:ea typeface="微软雅黑" panose="020B0503020204020204" charset="-122"/>
                <a:cs typeface="微软雅黑" panose="020B0503020204020204" charset="-122"/>
              </a:defRPr>
            </a:pPr>
            <a:r>
              <a:rPr sz="6600" b="1">
                <a:solidFill>
                  <a:srgbClr val="000000"/>
                </a:solidFill>
                <a:latin typeface="微软雅黑" panose="020B0503020204020204" charset="-122"/>
                <a:ea typeface="微软雅黑" panose="020B0503020204020204" charset="-122"/>
                <a:cs typeface="微软雅黑" panose="020B0503020204020204" charset="-122"/>
              </a:rPr>
              <a:t>录</a:t>
            </a:r>
            <a:endParaRPr sz="6600" b="1">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 name="AUTHOR_2_1"/>
          <p:cNvSpPr>
            <a:spLocks noGrp="1"/>
          </p:cNvSpPr>
          <p:nvPr/>
        </p:nvSpPr>
        <p:spPr>
          <a:xfrm>
            <a:off x="5191125" y="1028700"/>
            <a:ext cx="6286500" cy="5257800"/>
          </a:xfrm>
          <a:prstGeom prst="rect">
            <a:avLst/>
          </a:prstGeom>
          <a:noFill/>
          <a:ln w="0">
            <a:noFill/>
          </a:ln>
        </p:spPr>
        <p:txBody>
          <a:bodyPr wrap="square" lIns="0" tIns="0" rIns="0" bIns="0" anchor="t">
            <a:noAutofit/>
          </a:bodyPr>
          <a:lstStyle>
            <a:defPPr algn="l">
              <a:defRPr sz="2550" b="1">
                <a:solidFill>
                  <a:srgbClr val="000000"/>
                </a:solidFill>
                <a:latin typeface="微软雅黑" panose="020B0503020204020204" charset="-122"/>
                <a:ea typeface="微软雅黑" panose="020B0503020204020204" charset="-122"/>
                <a:cs typeface="微软雅黑" panose="020B0503020204020204" charset="-122"/>
              </a:defRPr>
            </a:defPPr>
          </a:lstStyle>
          <a:p>
            <a:pPr algn="l">
              <a:defRPr sz="2550" b="1">
                <a:solidFill>
                  <a:srgbClr val="000000"/>
                </a:solidFill>
                <a:latin typeface="微软雅黑" panose="020B0503020204020204" charset="-122"/>
                <a:ea typeface="微软雅黑" panose="020B0503020204020204" charset="-122"/>
                <a:cs typeface="微软雅黑" panose="020B0503020204020204" charset="-122"/>
              </a:defRPr>
            </a:pPr>
            <a:r>
              <a:rPr sz="2550" b="1">
                <a:solidFill>
                  <a:srgbClr val="000000"/>
                </a:solidFill>
                <a:latin typeface="微软雅黑" panose="020B0503020204020204" charset="-122"/>
                <a:ea typeface="微软雅黑" panose="020B0503020204020204" charset="-122"/>
                <a:cs typeface="微软雅黑" panose="020B0503020204020204" charset="-122"/>
              </a:rPr>
              <a:t>1. 研究背景</a:t>
            </a:r>
            <a:endParaRPr sz="2550" b="1">
              <a:solidFill>
                <a:srgbClr val="000000"/>
              </a:solidFill>
              <a:latin typeface="微软雅黑" panose="020B0503020204020204" charset="-122"/>
              <a:ea typeface="微软雅黑" panose="020B0503020204020204" charset="-122"/>
              <a:cs typeface="微软雅黑" panose="020B0503020204020204" charset="-122"/>
            </a:endParaRPr>
          </a:p>
          <a:p>
            <a:endParaRPr sz="2550"/>
          </a:p>
          <a:p>
            <a:pPr algn="l">
              <a:defRPr sz="2550" b="1">
                <a:solidFill>
                  <a:srgbClr val="000000"/>
                </a:solidFill>
                <a:latin typeface="微软雅黑" panose="020B0503020204020204" charset="-122"/>
                <a:ea typeface="微软雅黑" panose="020B0503020204020204" charset="-122"/>
                <a:cs typeface="微软雅黑" panose="020B0503020204020204" charset="-122"/>
              </a:defRPr>
            </a:pPr>
            <a:r>
              <a:rPr sz="2550" b="1">
                <a:solidFill>
                  <a:srgbClr val="000000"/>
                </a:solidFill>
                <a:latin typeface="微软雅黑" panose="020B0503020204020204" charset="-122"/>
                <a:ea typeface="微软雅黑" panose="020B0503020204020204" charset="-122"/>
                <a:cs typeface="微软雅黑" panose="020B0503020204020204" charset="-122"/>
              </a:rPr>
              <a:t>2. 核心贡献</a:t>
            </a:r>
            <a:endParaRPr sz="2550" b="1">
              <a:solidFill>
                <a:srgbClr val="000000"/>
              </a:solidFill>
              <a:latin typeface="微软雅黑" panose="020B0503020204020204" charset="-122"/>
              <a:ea typeface="微软雅黑" panose="020B0503020204020204" charset="-122"/>
              <a:cs typeface="微软雅黑" panose="020B0503020204020204" charset="-122"/>
            </a:endParaRPr>
          </a:p>
          <a:p>
            <a:endParaRPr sz="2550"/>
          </a:p>
          <a:p>
            <a:pPr algn="l">
              <a:defRPr sz="2550" b="1">
                <a:solidFill>
                  <a:srgbClr val="000000"/>
                </a:solidFill>
                <a:latin typeface="微软雅黑" panose="020B0503020204020204" charset="-122"/>
                <a:ea typeface="微软雅黑" panose="020B0503020204020204" charset="-122"/>
                <a:cs typeface="微软雅黑" panose="020B0503020204020204" charset="-122"/>
              </a:defRPr>
            </a:pPr>
            <a:r>
              <a:rPr sz="2550" b="1">
                <a:solidFill>
                  <a:srgbClr val="000000"/>
                </a:solidFill>
                <a:latin typeface="微软雅黑" panose="020B0503020204020204" charset="-122"/>
                <a:ea typeface="微软雅黑" panose="020B0503020204020204" charset="-122"/>
                <a:cs typeface="微软雅黑" panose="020B0503020204020204" charset="-122"/>
              </a:rPr>
              <a:t>3. </a:t>
            </a:r>
            <a:r>
              <a:rPr lang="zh-CN" sz="2550" b="1">
                <a:solidFill>
                  <a:srgbClr val="000000"/>
                </a:solidFill>
                <a:latin typeface="微软雅黑" panose="020B0503020204020204" charset="-122"/>
                <a:ea typeface="微软雅黑" panose="020B0503020204020204" charset="-122"/>
                <a:cs typeface="微软雅黑" panose="020B0503020204020204" charset="-122"/>
              </a:rPr>
              <a:t>研究方法</a:t>
            </a:r>
            <a:endParaRPr sz="2550" b="1">
              <a:solidFill>
                <a:srgbClr val="000000"/>
              </a:solidFill>
              <a:latin typeface="微软雅黑" panose="020B0503020204020204" charset="-122"/>
              <a:ea typeface="微软雅黑" panose="020B0503020204020204" charset="-122"/>
              <a:cs typeface="微软雅黑" panose="020B0503020204020204" charset="-122"/>
            </a:endParaRPr>
          </a:p>
          <a:p>
            <a:endParaRPr sz="2550"/>
          </a:p>
          <a:p>
            <a:pPr algn="l">
              <a:defRPr sz="2550" b="1">
                <a:solidFill>
                  <a:srgbClr val="000000"/>
                </a:solidFill>
                <a:latin typeface="微软雅黑" panose="020B0503020204020204" charset="-122"/>
                <a:ea typeface="微软雅黑" panose="020B0503020204020204" charset="-122"/>
                <a:cs typeface="微软雅黑" panose="020B0503020204020204" charset="-122"/>
              </a:defRPr>
            </a:pPr>
            <a:r>
              <a:rPr sz="2550" b="1">
                <a:solidFill>
                  <a:srgbClr val="000000"/>
                </a:solidFill>
                <a:latin typeface="微软雅黑" panose="020B0503020204020204" charset="-122"/>
                <a:ea typeface="微软雅黑" panose="020B0503020204020204" charset="-122"/>
                <a:cs typeface="微软雅黑" panose="020B0503020204020204" charset="-122"/>
              </a:rPr>
              <a:t>4. 实验结果</a:t>
            </a:r>
            <a:endParaRPr sz="2550" b="1">
              <a:solidFill>
                <a:srgbClr val="000000"/>
              </a:solidFill>
              <a:latin typeface="微软雅黑" panose="020B0503020204020204" charset="-122"/>
              <a:ea typeface="微软雅黑" panose="020B0503020204020204" charset="-122"/>
              <a:cs typeface="微软雅黑" panose="020B0503020204020204" charset="-122"/>
            </a:endParaRPr>
          </a:p>
          <a:p>
            <a:endParaRPr sz="2550"/>
          </a:p>
          <a:p>
            <a:pPr algn="l">
              <a:defRPr sz="2550" b="1">
                <a:solidFill>
                  <a:srgbClr val="000000"/>
                </a:solidFill>
                <a:latin typeface="微软雅黑" panose="020B0503020204020204" charset="-122"/>
                <a:ea typeface="微软雅黑" panose="020B0503020204020204" charset="-122"/>
                <a:cs typeface="微软雅黑" panose="020B0503020204020204" charset="-122"/>
              </a:defRPr>
            </a:pPr>
            <a:r>
              <a:rPr lang="en-US" sz="2550" b="1">
                <a:solidFill>
                  <a:srgbClr val="000000"/>
                </a:solidFill>
                <a:latin typeface="微软雅黑" panose="020B0503020204020204" charset="-122"/>
                <a:ea typeface="微软雅黑" panose="020B0503020204020204" charset="-122"/>
                <a:cs typeface="微软雅黑" panose="020B0503020204020204" charset="-122"/>
              </a:rPr>
              <a:t>5</a:t>
            </a:r>
            <a:r>
              <a:rPr sz="2550" b="1">
                <a:solidFill>
                  <a:srgbClr val="000000"/>
                </a:solidFill>
                <a:latin typeface="微软雅黑" panose="020B0503020204020204" charset="-122"/>
                <a:ea typeface="微软雅黑" panose="020B0503020204020204" charset="-122"/>
                <a:cs typeface="微软雅黑" panose="020B0503020204020204" charset="-122"/>
              </a:rPr>
              <a:t>. 结论与展望</a:t>
            </a:r>
            <a:endParaRPr sz="2550" b="1">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3"/>
          <p:cNvGrpSpPr/>
          <p:nvPr/>
        </p:nvGrpSpPr>
        <p:grpSpPr>
          <a:xfrm>
            <a:off x="102870" y="238125"/>
            <a:ext cx="454660" cy="490220"/>
            <a:chOff x="13580" y="262"/>
            <a:chExt cx="661" cy="772"/>
          </a:xfrm>
        </p:grpSpPr>
        <p:sp>
          <p:nvSpPr>
            <p:cNvPr id="6"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7"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8"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9"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AUTHOR_3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sz="2800" b="1">
                <a:solidFill>
                  <a:srgbClr val="4472C4"/>
                </a:solidFill>
                <a:latin typeface="微软雅黑" panose="020B0503020204020204" charset="-122"/>
                <a:ea typeface="微软雅黑" panose="020B0503020204020204" charset="-122"/>
                <a:cs typeface="微软雅黑" panose="020B0503020204020204" charset="-122"/>
              </a:rPr>
              <a:t>1. 研究背景</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sp>
        <p:nvSpPr>
          <p:cNvPr id="3" name="AUTHOR_3_1"/>
          <p:cNvSpPr>
            <a:spLocks noGrp="1"/>
          </p:cNvSpPr>
          <p:nvPr/>
        </p:nvSpPr>
        <p:spPr>
          <a:xfrm>
            <a:off x="785495" y="1463675"/>
            <a:ext cx="5429250" cy="4714875"/>
          </a:xfrm>
          <a:prstGeom prst="rect">
            <a:avLst/>
          </a:prstGeom>
          <a:noFill/>
          <a:ln w="0">
            <a:noFill/>
          </a:ln>
        </p:spPr>
        <p:txBody>
          <a:bodyPr wrap="square" lIns="0" tIns="0" rIns="0" bIns="0" anchor="t">
            <a:noAutofit/>
          </a:bodyPr>
          <a:lstStyle>
            <a:def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marL="342900" indent="-342900" algn="l">
              <a:buFont typeface="Wingdings" panose="05000000000000000000" charset="0"/>
              <a:buChar char="Ø"/>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1800" b="0">
                <a:solidFill>
                  <a:srgbClr val="000000"/>
                </a:solidFill>
                <a:latin typeface="宋体" panose="02010600030101010101" pitchFamily="2" charset="-122"/>
                <a:ea typeface="宋体" panose="02010600030101010101" pitchFamily="2" charset="-122"/>
                <a:cs typeface="宋体" panose="02010600030101010101" pitchFamily="2" charset="-122"/>
              </a:rPr>
              <a:t>VLN 任务</a:t>
            </a:r>
            <a:endParaRPr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a:sym typeface="+mn-ea"/>
              </a:rPr>
              <a:t>要求智能体</a:t>
            </a:r>
            <a:r>
              <a:rPr sz="1800" b="0">
                <a:solidFill>
                  <a:srgbClr val="000000"/>
                </a:solidFill>
                <a:latin typeface="宋体" panose="02010600030101010101" pitchFamily="2" charset="-122"/>
                <a:ea typeface="宋体" panose="02010600030101010101" pitchFamily="2" charset="-122"/>
                <a:cs typeface="宋体" panose="02010600030101010101" pitchFamily="2" charset="-122"/>
              </a:rPr>
              <a:t>理解自然语言指令与视觉场景，</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遵循自然语言指令在未知环境中导航。</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342900" indent="-342900" algn="l">
              <a:buFont typeface="Wingdings" panose="05000000000000000000" charset="0"/>
              <a:buChar char="Ø"/>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1800" b="0">
                <a:solidFill>
                  <a:srgbClr val="000000"/>
                </a:solidFill>
                <a:latin typeface="宋体" panose="02010600030101010101" pitchFamily="2" charset="-122"/>
                <a:ea typeface="宋体" panose="02010600030101010101" pitchFamily="2" charset="-122"/>
                <a:cs typeface="宋体" panose="02010600030101010101" pitchFamily="2" charset="-122"/>
              </a:rPr>
              <a:t>现有痛点</a:t>
            </a:r>
            <a:endParaRPr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现有连续环境</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VLN</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方法普遍依赖历史观测帧作为时空上下文，存在</a:t>
            </a:r>
            <a:r>
              <a:rPr lang="zh-CN" altLang="en-US" sz="1800" b="0">
                <a:solidFill>
                  <a:srgbClr val="FF0000"/>
                </a:solidFill>
                <a:latin typeface="宋体" panose="02010600030101010101" pitchFamily="2" charset="-122"/>
                <a:ea typeface="宋体" panose="02010600030101010101" pitchFamily="2" charset="-122"/>
                <a:cs typeface="宋体" panose="02010600030101010101" pitchFamily="2" charset="-122"/>
              </a:rPr>
              <a:t>存储开销随轨迹长度线性增长，计算效率</a:t>
            </a:r>
            <a:r>
              <a:rPr lang="zh-CN" altLang="en-US" sz="1800" b="0">
                <a:solidFill>
                  <a:srgbClr val="FF0000"/>
                </a:solidFill>
                <a:latin typeface="宋体" panose="02010600030101010101" pitchFamily="2" charset="-122"/>
                <a:ea typeface="宋体" panose="02010600030101010101" pitchFamily="2" charset="-122"/>
                <a:cs typeface="宋体" panose="02010600030101010101" pitchFamily="2" charset="-122"/>
              </a:rPr>
              <a:t>低下、缺乏结构化空间认知</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两大缺陷。 此外，传统语义地图仅包含视觉类别信息，</a:t>
            </a:r>
            <a:r>
              <a:rPr lang="zh-CN" altLang="en-US" sz="1800" b="0">
                <a:solidFill>
                  <a:srgbClr val="FF0000"/>
                </a:solidFill>
                <a:latin typeface="宋体" panose="02010600030101010101" pitchFamily="2" charset="-122"/>
                <a:ea typeface="宋体" panose="02010600030101010101" pitchFamily="2" charset="-122"/>
                <a:cs typeface="宋体" panose="02010600030101010101" pitchFamily="2" charset="-122"/>
              </a:rPr>
              <a:t>无法与</a:t>
            </a:r>
            <a:r>
              <a:rPr lang="en-US" altLang="zh-CN" sz="1800" b="0">
                <a:solidFill>
                  <a:srgbClr val="FF0000"/>
                </a:solidFill>
                <a:latin typeface="宋体" panose="02010600030101010101" pitchFamily="2" charset="-122"/>
                <a:ea typeface="宋体" panose="02010600030101010101" pitchFamily="2" charset="-122"/>
                <a:cs typeface="宋体" panose="02010600030101010101" pitchFamily="2" charset="-122"/>
              </a:rPr>
              <a:t>VLM</a:t>
            </a:r>
            <a:r>
              <a:rPr lang="zh-CN" altLang="en-US" sz="1800" b="0">
                <a:solidFill>
                  <a:srgbClr val="FF0000"/>
                </a:solidFill>
                <a:latin typeface="宋体" panose="02010600030101010101" pitchFamily="2" charset="-122"/>
                <a:ea typeface="宋体" panose="02010600030101010101" pitchFamily="2" charset="-122"/>
                <a:cs typeface="宋体" panose="02010600030101010101" pitchFamily="2" charset="-122"/>
              </a:rPr>
              <a:t>的预训练语言能力对齐</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，导致大模型难以有效利用地图信息。</a:t>
            </a:r>
            <a:endParaRPr sz="1800"/>
          </a:p>
          <a:p>
            <a:pPr marL="342900" indent="-342900" algn="l">
              <a:buFont typeface="Wingdings" panose="05000000000000000000" charset="0"/>
              <a:buChar char="Ø"/>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1800" b="0">
                <a:solidFill>
                  <a:srgbClr val="000000"/>
                </a:solidFill>
                <a:latin typeface="宋体" panose="02010600030101010101" pitchFamily="2" charset="-122"/>
                <a:ea typeface="宋体" panose="02010600030101010101" pitchFamily="2" charset="-122"/>
                <a:cs typeface="宋体" panose="02010600030101010101" pitchFamily="2" charset="-122"/>
              </a:rPr>
              <a:t>研究动机</a:t>
            </a:r>
            <a:endParaRPr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1800" b="0">
                <a:solidFill>
                  <a:srgbClr val="000000"/>
                </a:solidFill>
                <a:latin typeface="宋体" panose="02010600030101010101" pitchFamily="2" charset="-122"/>
                <a:ea typeface="宋体" panose="02010600030101010101" pitchFamily="2" charset="-122"/>
                <a:cs typeface="宋体" panose="02010600030101010101" pitchFamily="2" charset="-122"/>
              </a:rPr>
              <a:t>用结构化地图替代大量历史帧，保留物体位置与关键导航信息。</a:t>
            </a:r>
            <a:r>
              <a:rPr 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解决</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现有连续环境导航方法严重依赖历史观测帧作为时空上下文进行决策的</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问题。</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pic>
        <p:nvPicPr>
          <p:cNvPr id="11" name="图片 10"/>
          <p:cNvPicPr>
            <a:picLocks noChangeAspect="1"/>
          </p:cNvPicPr>
          <p:nvPr/>
        </p:nvPicPr>
        <p:blipFill>
          <a:blip r:embed="rId1"/>
          <a:stretch>
            <a:fillRect/>
          </a:stretch>
        </p:blipFill>
        <p:spPr>
          <a:xfrm>
            <a:off x="6149340" y="1988820"/>
            <a:ext cx="5953125" cy="32670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102870" y="238125"/>
            <a:ext cx="454660" cy="490220"/>
            <a:chOff x="13580" y="262"/>
            <a:chExt cx="661" cy="772"/>
          </a:xfrm>
        </p:grpSpPr>
        <p:sp>
          <p:nvSpPr>
            <p:cNvPr id="5"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6"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8"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3" name="AUTHOR_4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lang="en-US" sz="2800" b="1">
                <a:solidFill>
                  <a:srgbClr val="4472C4"/>
                </a:solidFill>
                <a:latin typeface="微软雅黑" panose="020B0503020204020204" charset="-122"/>
                <a:ea typeface="微软雅黑" panose="020B0503020204020204" charset="-122"/>
                <a:cs typeface="微软雅黑" panose="020B0503020204020204" charset="-122"/>
              </a:rPr>
              <a:t>1</a:t>
            </a:r>
            <a:r>
              <a:rPr sz="2800" b="1">
                <a:solidFill>
                  <a:srgbClr val="4472C4"/>
                </a:solidFill>
                <a:latin typeface="微软雅黑" panose="020B0503020204020204" charset="-122"/>
                <a:ea typeface="微软雅黑" panose="020B0503020204020204" charset="-122"/>
                <a:cs typeface="微软雅黑" panose="020B0503020204020204" charset="-122"/>
              </a:rPr>
              <a:t>. </a:t>
            </a:r>
            <a:r>
              <a:rPr lang="zh-CN" sz="2800" b="1">
                <a:solidFill>
                  <a:srgbClr val="4472C4"/>
                </a:solidFill>
                <a:latin typeface="微软雅黑" panose="020B0503020204020204" charset="-122"/>
                <a:ea typeface="微软雅黑" panose="020B0503020204020204" charset="-122"/>
                <a:cs typeface="微软雅黑" panose="020B0503020204020204" charset="-122"/>
              </a:rPr>
              <a:t>研究</a:t>
            </a:r>
            <a:r>
              <a:rPr lang="zh-CN" sz="2800" b="1">
                <a:solidFill>
                  <a:srgbClr val="4472C4"/>
                </a:solidFill>
                <a:latin typeface="微软雅黑" panose="020B0503020204020204" charset="-122"/>
                <a:ea typeface="微软雅黑" panose="020B0503020204020204" charset="-122"/>
                <a:cs typeface="微软雅黑" panose="020B0503020204020204" charset="-122"/>
              </a:rPr>
              <a:t>内容</a:t>
            </a:r>
            <a:endParaRPr lang="zh-CN" sz="2800" b="1">
              <a:solidFill>
                <a:srgbClr val="4472C4"/>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1"/>
          <a:stretch>
            <a:fillRect/>
          </a:stretch>
        </p:blipFill>
        <p:spPr>
          <a:xfrm>
            <a:off x="3185795" y="1082040"/>
            <a:ext cx="4491355" cy="57753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102870" y="238125"/>
            <a:ext cx="454660" cy="490220"/>
            <a:chOff x="13580" y="262"/>
            <a:chExt cx="661" cy="772"/>
          </a:xfrm>
        </p:grpSpPr>
        <p:sp>
          <p:nvSpPr>
            <p:cNvPr id="5"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6"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8"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3" name="AUTHOR_4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sz="2800" b="1">
                <a:solidFill>
                  <a:srgbClr val="4472C4"/>
                </a:solidFill>
                <a:latin typeface="微软雅黑" panose="020B0503020204020204" charset="-122"/>
                <a:ea typeface="微软雅黑" panose="020B0503020204020204" charset="-122"/>
                <a:cs typeface="微软雅黑" panose="020B0503020204020204" charset="-122"/>
              </a:rPr>
              <a:t>2. 核心贡献</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sp>
        <p:nvSpPr>
          <p:cNvPr id="2" name="AUTHOR_4_1"/>
          <p:cNvSpPr>
            <a:spLocks noGrp="1"/>
          </p:cNvSpPr>
          <p:nvPr/>
        </p:nvSpPr>
        <p:spPr>
          <a:xfrm>
            <a:off x="483235" y="1353185"/>
            <a:ext cx="10429875" cy="4953000"/>
          </a:xfrm>
          <a:prstGeom prst="rect">
            <a:avLst/>
          </a:prstGeom>
          <a:noFill/>
          <a:ln w="0">
            <a:noFill/>
          </a:ln>
        </p:spPr>
        <p:txBody>
          <a:bodyPr wrap="square" lIns="0" tIns="0" rIns="0" bIns="0" anchor="t">
            <a:noAutofit/>
          </a:bodyPr>
          <a:lstStyle>
            <a:def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marL="285750" indent="-285750" algn="l">
              <a:buFont typeface="Wingdings" panose="05000000000000000000" charset="0"/>
              <a:buChar char="Ø"/>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提出全新端到端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VLM </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驱动的视觉‑语言导航模型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MapNav，</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使用带标注语义地图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ASM </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作</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为记忆表征，有效替代传统历史图像帧。</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285750" indent="-285750" algn="l">
              <a:buFont typeface="Wingdings" panose="05000000000000000000" charset="0"/>
              <a:buChar char="Ø"/>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提出俯视的带标注语义地图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ASM，</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每时间步迭代更新，实现精准物体映射、结构化导</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航；为关键区域增加显式文本标签，提供明确导航线索。</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285750" indent="-285750" algn="l">
              <a:buFont typeface="Wingdings" panose="05000000000000000000" charset="0"/>
              <a:buChar char="Ø"/>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MapNav </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在仿真环境与真实环境下均超越现有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SOTA </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方法，为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VLN </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领域提供全新记忆表征</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思路。</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285750" indent="-285750" algn="l">
              <a:buFont typeface="Wingdings" panose="05000000000000000000" charset="0"/>
              <a:buChar char="Ø"/>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开源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ASM </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生成代码与数据集，保证实验可复现，为社区提供研究资源。</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 实验验证</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342900" indent="-342900" algn="l">
              <a:buFont typeface="Wingdings" panose="05000000000000000000" charset="0"/>
              <a:buChar char="ü"/>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 导航性能：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R2R Val-Unseen </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成功率（</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SR）</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由 27.1% 提升至 36.5%（加入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ASM）。</a:t>
            </a:r>
            <a:endPar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342900" indent="-342900" algn="l">
              <a:buFont typeface="Wingdings" panose="05000000000000000000" charset="0"/>
              <a:buChar char="ü"/>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 存储效率： 300 步记忆占用由 276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MB </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降至 0.17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MB。</a:t>
            </a:r>
            <a:endPar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342900" indent="-342900" algn="l">
              <a:buFont typeface="Wingdings" panose="05000000000000000000" charset="0"/>
              <a:buChar char="ü"/>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 处理效率： 平均处理时间由 1.22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s </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降至 0.25 </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s，</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减少约 79.5%。</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3"/>
          <p:cNvGrpSpPr/>
          <p:nvPr/>
        </p:nvGrpSpPr>
        <p:grpSpPr>
          <a:xfrm>
            <a:off x="102870" y="238125"/>
            <a:ext cx="454660" cy="490220"/>
            <a:chOff x="13580" y="262"/>
            <a:chExt cx="661" cy="772"/>
          </a:xfrm>
        </p:grpSpPr>
        <p:sp>
          <p:nvSpPr>
            <p:cNvPr id="6"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7"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8"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9"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AUTHOR_5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sz="2800" b="1">
                <a:solidFill>
                  <a:srgbClr val="4472C4"/>
                </a:solidFill>
                <a:latin typeface="微软雅黑" panose="020B0503020204020204" charset="-122"/>
                <a:ea typeface="微软雅黑" panose="020B0503020204020204" charset="-122"/>
                <a:cs typeface="微软雅黑" panose="020B0503020204020204" charset="-122"/>
              </a:rPr>
              <a:t>3. 方法详解：ASM 生成过程</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97485" y="1589405"/>
            <a:ext cx="11428730" cy="2888615"/>
          </a:xfrm>
          <a:prstGeom prst="rect">
            <a:avLst/>
          </a:prstGeom>
        </p:spPr>
      </p:pic>
      <p:sp>
        <p:nvSpPr>
          <p:cNvPr id="3" name="AUTHOR_5_1"/>
          <p:cNvSpPr>
            <a:spLocks noGrp="1"/>
          </p:cNvSpPr>
          <p:nvPr/>
        </p:nvSpPr>
        <p:spPr>
          <a:xfrm>
            <a:off x="197485" y="4679950"/>
            <a:ext cx="11701780" cy="1504950"/>
          </a:xfrm>
          <a:prstGeom prst="rect">
            <a:avLst/>
          </a:prstGeom>
          <a:noFill/>
          <a:ln w="0">
            <a:noFill/>
          </a:ln>
        </p:spPr>
        <p:txBody>
          <a:bodyPr wrap="square" lIns="0" tIns="0" rIns="0" bIns="0" anchor="t">
            <a:noAutofit/>
          </a:bodyPr>
          <a:lstStyle>
            <a:defPPr algn="l">
              <a:defRPr sz="210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marL="285750" indent="-285750" algn="l">
              <a:buFont typeface="Wingdings" panose="05000000000000000000" charset="0"/>
              <a:buChar char="Ø"/>
              <a:defRPr sz="21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语义分割</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利用语义分割模型</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(Mask2Former)</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对彩色图像进行处理，识别物体类别并生成对应的语义掩膜。</a:t>
            </a:r>
            <a:endPar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285750" indent="-285750" algn="l" eaLnBrk="1" fontAlgn="auto" latinLnBrk="0" hangingPunct="1">
              <a:lnSpc>
                <a:spcPts val="2000"/>
              </a:lnSpc>
              <a:spcAft>
                <a:spcPts val="600"/>
              </a:spcAft>
              <a:buFont typeface="Wingdings" panose="05000000000000000000" charset="0"/>
              <a:buChar char="Ø"/>
              <a:defRPr sz="21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三维点云构建</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将深度图转换为三维点云，获取物体的三维空间信息。</a:t>
            </a:r>
            <a:endPar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285750" indent="-285750" algn="l" eaLnBrk="1" fontAlgn="auto" latinLnBrk="0" hangingPunct="1">
              <a:lnSpc>
                <a:spcPts val="2000"/>
              </a:lnSpc>
              <a:spcAft>
                <a:spcPts val="600"/>
              </a:spcAft>
              <a:buFont typeface="Wingdings" panose="05000000000000000000" charset="0"/>
              <a:buChar char="Ø"/>
              <a:defRPr sz="21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二维语义地图生成</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将语义掩膜与三维点云对齐，结合机器人位姿投影至二维俯视平面，实时更新语义地图。</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285750" indent="-285750" algn="l" eaLnBrk="1" fontAlgn="auto" latinLnBrk="0" hangingPunct="1">
              <a:lnSpc>
                <a:spcPts val="2000"/>
              </a:lnSpc>
              <a:spcAft>
                <a:spcPts val="600"/>
              </a:spcAft>
              <a:buFont typeface="Wingdings" panose="05000000000000000000" charset="0"/>
              <a:buChar char="Ø"/>
              <a:defRPr sz="21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语义文字标注</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通过连通域分析筛选面积超过阈值</a:t>
            </a:r>
            <a:r>
              <a:rPr lang="en-US" alt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τ</a:t>
            </a:r>
            <a:r>
              <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rPr>
              <a:t>的物体区域，计算其几何质心，并在对应位置添加“椅子”“床”等文字标签，生成标注语义地图。</a:t>
            </a:r>
            <a:endParaRPr lang="zh-CN" altLang="en-US"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3"/>
          <p:cNvGrpSpPr/>
          <p:nvPr/>
        </p:nvGrpSpPr>
        <p:grpSpPr>
          <a:xfrm>
            <a:off x="102870" y="238125"/>
            <a:ext cx="454660" cy="490220"/>
            <a:chOff x="13580" y="262"/>
            <a:chExt cx="661" cy="772"/>
          </a:xfrm>
        </p:grpSpPr>
        <p:sp>
          <p:nvSpPr>
            <p:cNvPr id="6"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7"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8"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9"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AUTHOR_6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sz="2800" b="1">
                <a:solidFill>
                  <a:srgbClr val="4472C4"/>
                </a:solidFill>
                <a:latin typeface="微软雅黑" panose="020B0503020204020204" charset="-122"/>
                <a:ea typeface="微软雅黑" panose="020B0503020204020204" charset="-122"/>
                <a:cs typeface="微软雅黑" panose="020B0503020204020204" charset="-122"/>
              </a:rPr>
              <a:t>3. 方法详解：MapNav 智能体架构</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600075" y="1367142"/>
            <a:ext cx="7248525" cy="4352315"/>
          </a:xfrm>
          <a:prstGeom prst="rect">
            <a:avLst/>
          </a:prstGeom>
        </p:spPr>
      </p:pic>
      <p:sp>
        <p:nvSpPr>
          <p:cNvPr id="3" name="AUTHOR_6_1"/>
          <p:cNvSpPr>
            <a:spLocks noGrp="1"/>
          </p:cNvSpPr>
          <p:nvPr/>
        </p:nvSpPr>
        <p:spPr>
          <a:xfrm>
            <a:off x="8382000" y="1381125"/>
            <a:ext cx="3190875" cy="4648200"/>
          </a:xfrm>
          <a:prstGeom prst="rect">
            <a:avLst/>
          </a:prstGeom>
          <a:noFill/>
          <a:ln w="0">
            <a:noFill/>
          </a:ln>
        </p:spPr>
        <p:txBody>
          <a:bodyPr wrap="square" lIns="0" tIns="0" rIns="0" bIns="0" anchor="t">
            <a:noAutofit/>
          </a:bodyPr>
          <a:lstStyle>
            <a:defPPr algn="l">
              <a:defRPr sz="2175"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l">
              <a:defRPr sz="2175"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175" b="0">
                <a:solidFill>
                  <a:srgbClr val="000000"/>
                </a:solidFill>
                <a:latin typeface="宋体" panose="02010600030101010101" pitchFamily="2" charset="-122"/>
                <a:ea typeface="宋体" panose="02010600030101010101" pitchFamily="2" charset="-122"/>
                <a:cs typeface="宋体" panose="02010600030101010101" pitchFamily="2" charset="-122"/>
              </a:rPr>
              <a:t>输入：RGB、ASM、指令</a:t>
            </a:r>
            <a:endParaRPr sz="2175" b="0">
              <a:solidFill>
                <a:srgbClr val="000000"/>
              </a:solidFill>
              <a:latin typeface="宋体" panose="02010600030101010101" pitchFamily="2" charset="-122"/>
              <a:ea typeface="宋体" panose="02010600030101010101" pitchFamily="2" charset="-122"/>
              <a:cs typeface="宋体" panose="02010600030101010101" pitchFamily="2" charset="-122"/>
            </a:endParaRPr>
          </a:p>
          <a:p>
            <a:endParaRPr sz="2175"/>
          </a:p>
          <a:p>
            <a:pPr algn="l">
              <a:defRPr sz="2175"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175" b="0">
                <a:solidFill>
                  <a:srgbClr val="000000"/>
                </a:solidFill>
                <a:latin typeface="宋体" panose="02010600030101010101" pitchFamily="2" charset="-122"/>
                <a:ea typeface="宋体" panose="02010600030101010101" pitchFamily="2" charset="-122"/>
                <a:cs typeface="宋体" panose="02010600030101010101" pitchFamily="2" charset="-122"/>
              </a:rPr>
              <a:t>共享 SigLIP 编码图像，两个 MLP 投影器对齐到语言空间。</a:t>
            </a:r>
            <a:endParaRPr sz="2175" b="0">
              <a:solidFill>
                <a:srgbClr val="000000"/>
              </a:solidFill>
              <a:latin typeface="宋体" panose="02010600030101010101" pitchFamily="2" charset="-122"/>
              <a:ea typeface="宋体" panose="02010600030101010101" pitchFamily="2" charset="-122"/>
              <a:cs typeface="宋体" panose="02010600030101010101" pitchFamily="2" charset="-122"/>
            </a:endParaRPr>
          </a:p>
          <a:p>
            <a:endParaRPr sz="2175"/>
          </a:p>
          <a:p>
            <a:pPr algn="l">
              <a:defRPr sz="2175"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175" b="0">
                <a:solidFill>
                  <a:srgbClr val="000000"/>
                </a:solidFill>
                <a:latin typeface="宋体" panose="02010600030101010101" pitchFamily="2" charset="-122"/>
                <a:ea typeface="宋体" panose="02010600030101010101" pitchFamily="2" charset="-122"/>
                <a:cs typeface="宋体" panose="02010600030101010101" pitchFamily="2" charset="-122"/>
              </a:rPr>
              <a:t>Qwen2-7B-Instruct生成自然语言动作。</a:t>
            </a:r>
            <a:endParaRPr sz="2175" b="0">
              <a:solidFill>
                <a:srgbClr val="000000"/>
              </a:solidFill>
              <a:latin typeface="宋体" panose="02010600030101010101" pitchFamily="2" charset="-122"/>
              <a:ea typeface="宋体" panose="02010600030101010101" pitchFamily="2" charset="-122"/>
              <a:cs typeface="宋体" panose="02010600030101010101" pitchFamily="2" charset="-122"/>
            </a:endParaRPr>
          </a:p>
          <a:p>
            <a:endParaRPr sz="2175"/>
          </a:p>
          <a:p>
            <a:pPr algn="l">
              <a:defRPr sz="2175"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175" b="0">
                <a:solidFill>
                  <a:srgbClr val="000000"/>
                </a:solidFill>
                <a:latin typeface="宋体" panose="02010600030101010101" pitchFamily="2" charset="-122"/>
                <a:ea typeface="宋体" panose="02010600030101010101" pitchFamily="2" charset="-122"/>
                <a:cs typeface="宋体" panose="02010600030101010101" pitchFamily="2" charset="-122"/>
              </a:rPr>
              <a:t>规则解析为前进、左转、右转与停止。</a:t>
            </a:r>
            <a:endParaRPr sz="2175"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3"/>
          <p:cNvGrpSpPr/>
          <p:nvPr/>
        </p:nvGrpSpPr>
        <p:grpSpPr>
          <a:xfrm>
            <a:off x="102870" y="238125"/>
            <a:ext cx="454660" cy="490220"/>
            <a:chOff x="13580" y="262"/>
            <a:chExt cx="661" cy="772"/>
          </a:xfrm>
        </p:grpSpPr>
        <p:sp>
          <p:nvSpPr>
            <p:cNvPr id="6"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7"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8"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9"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AUTHOR_7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sz="2800" b="1">
                <a:solidFill>
                  <a:srgbClr val="4472C4"/>
                </a:solidFill>
                <a:latin typeface="微软雅黑" panose="020B0503020204020204" charset="-122"/>
                <a:ea typeface="微软雅黑" panose="020B0503020204020204" charset="-122"/>
                <a:cs typeface="微软雅黑" panose="020B0503020204020204" charset="-122"/>
              </a:rPr>
              <a:t>3. 方法详解：关键设计优势</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895985" y="1221740"/>
            <a:ext cx="3314700" cy="5347335"/>
          </a:xfrm>
          <a:prstGeom prst="rect">
            <a:avLst/>
          </a:prstGeom>
        </p:spPr>
      </p:pic>
      <p:sp>
        <p:nvSpPr>
          <p:cNvPr id="11" name="文本框 10"/>
          <p:cNvSpPr txBox="1"/>
          <p:nvPr/>
        </p:nvSpPr>
        <p:spPr>
          <a:xfrm>
            <a:off x="102870" y="943610"/>
            <a:ext cx="6137910" cy="337185"/>
          </a:xfrm>
          <a:prstGeom prst="rect">
            <a:avLst/>
          </a:prstGeom>
        </p:spPr>
        <p:txBody>
          <a:bodyPr wrap="square">
            <a:spAutoFit/>
          </a:bodyPr>
          <a:p>
            <a:pPr>
              <a:spcAft>
                <a:spcPct val="60000"/>
              </a:spcAft>
            </a:pPr>
            <a:r>
              <a:rPr lang="zh-CN" altLang="en-US" sz="1600" b="1"/>
              <a:t>图 </a:t>
            </a:r>
            <a:r>
              <a:rPr lang="en-US" altLang="zh-CN" sz="1600" b="1"/>
              <a:t>9</a:t>
            </a:r>
            <a:r>
              <a:rPr lang="zh-CN" altLang="en-US" sz="1600" b="1"/>
              <a:t>：不同地图表示方式下的 </a:t>
            </a:r>
            <a:r>
              <a:rPr lang="en-US" altLang="zh-CN" sz="1600" b="1"/>
              <a:t>VLM </a:t>
            </a:r>
            <a:r>
              <a:rPr lang="zh-CN" altLang="en-US" sz="1600" b="1"/>
              <a:t>注意力与理解效果对比</a:t>
            </a:r>
            <a:endParaRPr lang="zh-CN" altLang="en-US" sz="1600" b="1"/>
          </a:p>
        </p:txBody>
      </p:sp>
      <p:graphicFrame>
        <p:nvGraphicFramePr>
          <p:cNvPr id="12" name="表格 11"/>
          <p:cNvGraphicFramePr/>
          <p:nvPr>
            <p:custDataLst>
              <p:tags r:id="rId2"/>
            </p:custDataLst>
          </p:nvPr>
        </p:nvGraphicFramePr>
        <p:xfrm>
          <a:off x="4705350" y="2003425"/>
          <a:ext cx="6744335" cy="3265805"/>
        </p:xfrm>
        <a:graphic>
          <a:graphicData uri="http://schemas.openxmlformats.org/drawingml/2006/table">
            <a:tbl>
              <a:tblPr/>
              <a:tblGrid>
                <a:gridCol w="2258695"/>
                <a:gridCol w="2237740"/>
                <a:gridCol w="2247900"/>
              </a:tblGrid>
              <a:tr h="331470">
                <a:tc>
                  <a:txBody>
                    <a:bodyPr/>
                    <a:p>
                      <a:r>
                        <a:rPr lang="zh-CN" altLang="en-US" sz="1800">
                          <a:latin typeface="宋体" panose="02010600030101010101" pitchFamily="2" charset="-122"/>
                          <a:ea typeface="宋体" panose="02010600030101010101" pitchFamily="2" charset="-122"/>
                        </a:rPr>
                        <a:t>地图类型</a:t>
                      </a:r>
                      <a:endParaRPr lang="zh-CN" altLang="en-US" sz="1800">
                        <a:latin typeface="宋体" panose="02010600030101010101" pitchFamily="2" charset="-122"/>
                        <a:ea typeface="宋体" panose="02010600030101010101" pitchFamily="2" charset="-122"/>
                      </a:endParaRPr>
                    </a:p>
                  </a:txBody>
                  <a:tcPr marL="0" marR="0" marT="0" marB="0" anchor="ctr" anchorCtr="0">
                    <a:lnL>
                      <a:noFill/>
                    </a:lnL>
                    <a:lnR>
                      <a:noFill/>
                    </a:lnR>
                    <a:lnT>
                      <a:noFill/>
                    </a:lnT>
                    <a:lnB>
                      <a:noFill/>
                    </a:lnB>
                    <a:noFill/>
                  </a:tcPr>
                </a:tc>
                <a:tc>
                  <a:txBody>
                    <a:bodyPr/>
                    <a:p>
                      <a:r>
                        <a:rPr lang="zh-CN" altLang="en-US" sz="1800">
                          <a:latin typeface="宋体" panose="02010600030101010101" pitchFamily="2" charset="-122"/>
                          <a:ea typeface="宋体" panose="02010600030101010101" pitchFamily="2" charset="-122"/>
                        </a:rPr>
                        <a:t>注意力分布</a:t>
                      </a:r>
                      <a:endParaRPr lang="zh-CN" altLang="en-US" sz="1800">
                        <a:latin typeface="宋体" panose="02010600030101010101" pitchFamily="2" charset="-122"/>
                        <a:ea typeface="宋体" panose="02010600030101010101" pitchFamily="2" charset="-122"/>
                      </a:endParaRPr>
                    </a:p>
                  </a:txBody>
                  <a:tcPr marL="0" marR="0" marT="0" marB="0" anchor="ctr" anchorCtr="0">
                    <a:lnL>
                      <a:noFill/>
                    </a:lnL>
                    <a:lnR>
                      <a:noFill/>
                    </a:lnR>
                    <a:lnT>
                      <a:noFill/>
                    </a:lnT>
                    <a:lnB>
                      <a:noFill/>
                    </a:lnB>
                    <a:noFill/>
                  </a:tcPr>
                </a:tc>
                <a:tc>
                  <a:txBody>
                    <a:bodyPr/>
                    <a:p>
                      <a:r>
                        <a:rPr lang="en-US" altLang="zh-CN" sz="1800">
                          <a:latin typeface="宋体" panose="02010600030101010101" pitchFamily="2" charset="-122"/>
                          <a:ea typeface="宋体" panose="02010600030101010101" pitchFamily="2" charset="-122"/>
                          <a:cs typeface="宋体" panose="02010600030101010101" pitchFamily="2" charset="-122"/>
                        </a:rPr>
                        <a:t>VLM </a:t>
                      </a:r>
                      <a:r>
                        <a:rPr lang="zh-CN" altLang="en-US" sz="1800">
                          <a:latin typeface="宋体" panose="02010600030101010101" pitchFamily="2" charset="-122"/>
                          <a:ea typeface="宋体" panose="02010600030101010101" pitchFamily="2" charset="-122"/>
                          <a:cs typeface="宋体" panose="02010600030101010101" pitchFamily="2" charset="-122"/>
                        </a:rPr>
                        <a:t>的理解效果</a:t>
                      </a:r>
                      <a:endParaRPr lang="zh-CN" altLang="en-US" sz="1800">
                        <a:latin typeface="宋体" panose="02010600030101010101" pitchFamily="2" charset="-122"/>
                        <a:ea typeface="宋体" panose="02010600030101010101" pitchFamily="2" charset="-122"/>
                        <a:cs typeface="宋体" panose="02010600030101010101" pitchFamily="2" charset="-122"/>
                      </a:endParaRPr>
                    </a:p>
                  </a:txBody>
                  <a:tcPr marL="0" marR="0" marT="0" marB="0" anchor="ctr" anchorCtr="0">
                    <a:lnL>
                      <a:noFill/>
                    </a:lnL>
                    <a:lnR>
                      <a:noFill/>
                    </a:lnR>
                    <a:lnT>
                      <a:noFill/>
                    </a:lnT>
                    <a:lnB>
                      <a:noFill/>
                    </a:lnB>
                    <a:noFill/>
                  </a:tcPr>
                </a:tc>
              </a:tr>
              <a:tr h="880110">
                <a:tc>
                  <a:txBody>
                    <a:bodyPr/>
                    <a:p>
                      <a:r>
                        <a:rPr lang="zh-CN" altLang="en-US" sz="1800">
                          <a:latin typeface="宋体" panose="02010600030101010101" pitchFamily="2" charset="-122"/>
                          <a:ea typeface="宋体" panose="02010600030101010101" pitchFamily="2" charset="-122"/>
                          <a:cs typeface="宋体" panose="02010600030101010101" pitchFamily="2" charset="-122"/>
                        </a:rPr>
                        <a:t>原始俯视地图</a:t>
                      </a:r>
                      <a:endParaRPr lang="zh-CN" altLang="en-US" sz="1800">
                        <a:latin typeface="宋体" panose="02010600030101010101" pitchFamily="2" charset="-122"/>
                        <a:ea typeface="宋体" panose="02010600030101010101" pitchFamily="2" charset="-122"/>
                        <a:cs typeface="宋体" panose="02010600030101010101" pitchFamily="2" charset="-122"/>
                      </a:endParaRPr>
                    </a:p>
                  </a:txBody>
                  <a:tcPr marL="0" marR="0" marT="0" marB="0" anchor="ctr" anchorCtr="0">
                    <a:lnL>
                      <a:noFill/>
                    </a:lnL>
                    <a:lnR>
                      <a:noFill/>
                    </a:lnR>
                    <a:lnT>
                      <a:noFill/>
                    </a:lnT>
                    <a:lnB>
                      <a:noFill/>
                    </a:lnB>
                    <a:noFill/>
                  </a:tcPr>
                </a:tc>
                <a:tc>
                  <a:txBody>
                    <a:bodyPr/>
                    <a:p>
                      <a:r>
                        <a:rPr lang="zh-CN" altLang="en-US" sz="1800">
                          <a:latin typeface="宋体" panose="02010600030101010101" pitchFamily="2" charset="-122"/>
                          <a:ea typeface="宋体" panose="02010600030101010101" pitchFamily="2" charset="-122"/>
                          <a:cs typeface="宋体" panose="02010600030101010101" pitchFamily="2" charset="-122"/>
                        </a:rPr>
                        <a:t>注意力较为分散，峰值小于 </a:t>
                      </a:r>
                      <a:r>
                        <a:rPr lang="en-US" altLang="zh-CN" sz="1800">
                          <a:latin typeface="宋体" panose="02010600030101010101" pitchFamily="2" charset="-122"/>
                          <a:ea typeface="宋体" panose="02010600030101010101" pitchFamily="2" charset="-122"/>
                          <a:cs typeface="宋体" panose="02010600030101010101" pitchFamily="2" charset="-122"/>
                        </a:rPr>
                        <a:t>0.3</a:t>
                      </a:r>
                      <a:endParaRPr lang="en-US" altLang="zh-CN" sz="1800">
                        <a:latin typeface="宋体" panose="02010600030101010101" pitchFamily="2" charset="-122"/>
                        <a:ea typeface="宋体" panose="02010600030101010101" pitchFamily="2" charset="-122"/>
                        <a:cs typeface="宋体" panose="02010600030101010101" pitchFamily="2" charset="-122"/>
                      </a:endParaRPr>
                    </a:p>
                  </a:txBody>
                  <a:tcPr marL="0" marR="0" marT="0" marB="0" anchor="ctr" anchorCtr="0">
                    <a:lnL>
                      <a:noFill/>
                    </a:lnL>
                    <a:lnR>
                      <a:noFill/>
                    </a:lnR>
                    <a:lnT>
                      <a:noFill/>
                    </a:lnT>
                    <a:lnB>
                      <a:noFill/>
                    </a:lnB>
                    <a:noFill/>
                  </a:tcPr>
                </a:tc>
                <a:tc>
                  <a:txBody>
                    <a:bodyPr/>
                    <a:p>
                      <a:r>
                        <a:rPr lang="zh-CN" altLang="en-US" sz="1800">
                          <a:latin typeface="宋体" panose="02010600030101010101" pitchFamily="2" charset="-122"/>
                          <a:ea typeface="宋体" panose="02010600030101010101" pitchFamily="2" charset="-122"/>
                        </a:rPr>
                        <a:t>主要识别地图几何结构和导航轨迹，难以理解物体语义</a:t>
                      </a:r>
                      <a:endParaRPr lang="zh-CN" altLang="en-US" sz="1800">
                        <a:latin typeface="宋体" panose="02010600030101010101" pitchFamily="2" charset="-122"/>
                        <a:ea typeface="宋体" panose="02010600030101010101" pitchFamily="2" charset="-122"/>
                      </a:endParaRPr>
                    </a:p>
                  </a:txBody>
                  <a:tcPr marL="0" marR="0" marT="0" marB="0" anchor="ctr" anchorCtr="0">
                    <a:lnL>
                      <a:noFill/>
                    </a:lnL>
                    <a:lnR>
                      <a:noFill/>
                    </a:lnR>
                    <a:lnT>
                      <a:noFill/>
                    </a:lnT>
                    <a:lnB>
                      <a:noFill/>
                    </a:lnB>
                    <a:noFill/>
                  </a:tcPr>
                </a:tc>
              </a:tr>
              <a:tr h="880745">
                <a:tc>
                  <a:txBody>
                    <a:bodyPr/>
                    <a:p>
                      <a:r>
                        <a:rPr lang="zh-CN" altLang="en-US" sz="1800">
                          <a:latin typeface="宋体" panose="02010600030101010101" pitchFamily="2" charset="-122"/>
                          <a:ea typeface="宋体" panose="02010600030101010101" pitchFamily="2" charset="-122"/>
                          <a:cs typeface="宋体" panose="02010600030101010101" pitchFamily="2" charset="-122"/>
                        </a:rPr>
                        <a:t>普通语义地图</a:t>
                      </a:r>
                      <a:endParaRPr lang="zh-CN" altLang="en-US" sz="1800">
                        <a:latin typeface="宋体" panose="02010600030101010101" pitchFamily="2" charset="-122"/>
                        <a:ea typeface="宋体" panose="02010600030101010101" pitchFamily="2" charset="-122"/>
                        <a:cs typeface="宋体" panose="02010600030101010101" pitchFamily="2" charset="-122"/>
                      </a:endParaRPr>
                    </a:p>
                  </a:txBody>
                  <a:tcPr marL="0" marR="0" marT="0" marB="0" anchor="ctr" anchorCtr="0">
                    <a:lnL>
                      <a:noFill/>
                    </a:lnL>
                    <a:lnR>
                      <a:noFill/>
                    </a:lnR>
                    <a:lnT>
                      <a:noFill/>
                    </a:lnT>
                    <a:lnB>
                      <a:noFill/>
                    </a:lnB>
                    <a:noFill/>
                  </a:tcPr>
                </a:tc>
                <a:tc>
                  <a:txBody>
                    <a:bodyPr/>
                    <a:p>
                      <a:r>
                        <a:rPr lang="zh-CN" altLang="en-US" sz="1800">
                          <a:latin typeface="宋体" panose="02010600030101010101" pitchFamily="2" charset="-122"/>
                          <a:ea typeface="宋体" panose="02010600030101010101" pitchFamily="2" charset="-122"/>
                          <a:cs typeface="宋体" panose="02010600030101010101" pitchFamily="2" charset="-122"/>
                        </a:rPr>
                        <a:t>注意力仍较分散，峰值小于 </a:t>
                      </a:r>
                      <a:r>
                        <a:rPr lang="en-US" altLang="zh-CN" sz="1800">
                          <a:latin typeface="宋体" panose="02010600030101010101" pitchFamily="2" charset="-122"/>
                          <a:ea typeface="宋体" panose="02010600030101010101" pitchFamily="2" charset="-122"/>
                          <a:cs typeface="宋体" panose="02010600030101010101" pitchFamily="2" charset="-122"/>
                        </a:rPr>
                        <a:t>0.4</a:t>
                      </a:r>
                      <a:endParaRPr lang="en-US" altLang="zh-CN" sz="1800">
                        <a:latin typeface="宋体" panose="02010600030101010101" pitchFamily="2" charset="-122"/>
                        <a:ea typeface="宋体" panose="02010600030101010101" pitchFamily="2" charset="-122"/>
                        <a:cs typeface="宋体" panose="02010600030101010101" pitchFamily="2" charset="-122"/>
                      </a:endParaRPr>
                    </a:p>
                  </a:txBody>
                  <a:tcPr marL="0" marR="0" marT="0" marB="0" anchor="ctr" anchorCtr="0">
                    <a:lnL>
                      <a:noFill/>
                    </a:lnL>
                    <a:lnR>
                      <a:noFill/>
                    </a:lnR>
                    <a:lnT>
                      <a:noFill/>
                    </a:lnT>
                    <a:lnB>
                      <a:noFill/>
                    </a:lnB>
                    <a:noFill/>
                  </a:tcPr>
                </a:tc>
                <a:tc>
                  <a:txBody>
                    <a:bodyPr/>
                    <a:p>
                      <a:r>
                        <a:rPr lang="zh-CN" altLang="en-US" sz="1800">
                          <a:latin typeface="宋体" panose="02010600030101010101" pitchFamily="2" charset="-122"/>
                          <a:ea typeface="宋体" panose="02010600030101010101" pitchFamily="2" charset="-122"/>
                        </a:rPr>
                        <a:t>能感知不同颜色区域，但难以准确识别物体类别及空间关系</a:t>
                      </a:r>
                      <a:endParaRPr lang="zh-CN" altLang="en-US" sz="1800">
                        <a:latin typeface="宋体" panose="02010600030101010101" pitchFamily="2" charset="-122"/>
                        <a:ea typeface="宋体" panose="02010600030101010101" pitchFamily="2" charset="-122"/>
                      </a:endParaRPr>
                    </a:p>
                  </a:txBody>
                  <a:tcPr marL="0" marR="0" marT="0" marB="0" anchor="ctr" anchorCtr="0">
                    <a:lnL>
                      <a:noFill/>
                    </a:lnL>
                    <a:lnR>
                      <a:noFill/>
                    </a:lnR>
                    <a:lnT>
                      <a:noFill/>
                    </a:lnT>
                    <a:lnB>
                      <a:noFill/>
                    </a:lnB>
                    <a:noFill/>
                  </a:tcPr>
                </a:tc>
              </a:tr>
              <a:tr h="1173480">
                <a:tc>
                  <a:txBody>
                    <a:bodyPr/>
                    <a:p>
                      <a:r>
                        <a:rPr lang="zh-CN" altLang="en-US" sz="1800">
                          <a:latin typeface="宋体" panose="02010600030101010101" pitchFamily="2" charset="-122"/>
                          <a:ea typeface="宋体" panose="02010600030101010101" pitchFamily="2" charset="-122"/>
                          <a:cs typeface="宋体" panose="02010600030101010101" pitchFamily="2" charset="-122"/>
                        </a:rPr>
                        <a:t>标注语义地图</a:t>
                      </a:r>
                      <a:endParaRPr lang="zh-CN" altLang="en-US" sz="1800">
                        <a:latin typeface="宋体" panose="02010600030101010101" pitchFamily="2" charset="-122"/>
                        <a:ea typeface="宋体" panose="02010600030101010101" pitchFamily="2" charset="-122"/>
                        <a:cs typeface="宋体" panose="02010600030101010101" pitchFamily="2" charset="-122"/>
                      </a:endParaRPr>
                    </a:p>
                  </a:txBody>
                  <a:tcPr marL="0" marR="0" marT="0" marB="0" anchor="ctr" anchorCtr="0">
                    <a:lnL>
                      <a:noFill/>
                    </a:lnL>
                    <a:lnR>
                      <a:noFill/>
                    </a:lnR>
                    <a:lnT>
                      <a:noFill/>
                    </a:lnT>
                    <a:lnB>
                      <a:noFill/>
                    </a:lnB>
                    <a:noFill/>
                  </a:tcPr>
                </a:tc>
                <a:tc>
                  <a:txBody>
                    <a:bodyPr/>
                    <a:p>
                      <a:r>
                        <a:rPr lang="zh-CN" altLang="en-US" sz="1800">
                          <a:latin typeface="宋体" panose="02010600030101010101" pitchFamily="2" charset="-122"/>
                          <a:ea typeface="宋体" panose="02010600030101010101" pitchFamily="2" charset="-122"/>
                          <a:cs typeface="宋体" panose="02010600030101010101" pitchFamily="2" charset="-122"/>
                        </a:rPr>
                        <a:t>注意力集中于文字标签、语义物体及导航轨迹，峰值大于 </a:t>
                      </a:r>
                      <a:r>
                        <a:rPr lang="en-US" altLang="zh-CN" sz="1800">
                          <a:latin typeface="宋体" panose="02010600030101010101" pitchFamily="2" charset="-122"/>
                          <a:ea typeface="宋体" panose="02010600030101010101" pitchFamily="2" charset="-122"/>
                          <a:cs typeface="宋体" panose="02010600030101010101" pitchFamily="2" charset="-122"/>
                        </a:rPr>
                        <a:t>0.8</a:t>
                      </a:r>
                      <a:endParaRPr lang="en-US" altLang="zh-CN" sz="1800">
                        <a:latin typeface="宋体" panose="02010600030101010101" pitchFamily="2" charset="-122"/>
                        <a:ea typeface="宋体" panose="02010600030101010101" pitchFamily="2" charset="-122"/>
                        <a:cs typeface="宋体" panose="02010600030101010101" pitchFamily="2" charset="-122"/>
                      </a:endParaRPr>
                    </a:p>
                  </a:txBody>
                  <a:tcPr marL="0" marR="0" marT="0" marB="0" anchor="ctr" anchorCtr="0">
                    <a:lnL>
                      <a:noFill/>
                    </a:lnL>
                    <a:lnR>
                      <a:noFill/>
                    </a:lnR>
                    <a:lnT>
                      <a:noFill/>
                    </a:lnT>
                    <a:lnB>
                      <a:noFill/>
                    </a:lnB>
                    <a:noFill/>
                  </a:tcPr>
                </a:tc>
                <a:tc>
                  <a:txBody>
                    <a:bodyPr/>
                    <a:p>
                      <a:r>
                        <a:rPr lang="zh-CN" altLang="en-US" sz="1800">
                          <a:latin typeface="宋体" panose="02010600030101010101" pitchFamily="2" charset="-122"/>
                          <a:ea typeface="宋体" panose="02010600030101010101" pitchFamily="2" charset="-122"/>
                        </a:rPr>
                        <a:t>能够准确识别物体类别及其空间位置，表现出更强的地图语义理解能力</a:t>
                      </a:r>
                      <a:endParaRPr lang="zh-CN" altLang="en-US" sz="1800">
                        <a:latin typeface="宋体" panose="02010600030101010101" pitchFamily="2" charset="-122"/>
                        <a:ea typeface="宋体" panose="02010600030101010101" pitchFamily="2" charset="-122"/>
                      </a:endParaRPr>
                    </a:p>
                  </a:txBody>
                  <a:tcPr marL="0" marR="0" marT="0" marB="0" anchor="ctr" anchorCtr="0">
                    <a:lnL>
                      <a:noFill/>
                    </a:lnL>
                    <a:lnR>
                      <a:noFill/>
                    </a:lnR>
                    <a:lnT>
                      <a:noFill/>
                    </a:lnT>
                    <a:lnB>
                      <a:noFill/>
                    </a:lnB>
                    <a:noFill/>
                  </a:tcPr>
                </a:tc>
              </a:tr>
            </a:tbl>
          </a:graphicData>
        </a:graphic>
      </p:graphicFrame>
      <p:sp>
        <p:nvSpPr>
          <p:cNvPr id="13" name="文本框 12"/>
          <p:cNvSpPr txBox="1"/>
          <p:nvPr/>
        </p:nvSpPr>
        <p:spPr>
          <a:xfrm>
            <a:off x="5034915" y="5226050"/>
            <a:ext cx="5080000" cy="1229995"/>
          </a:xfrm>
          <a:prstGeom prst="rect">
            <a:avLst/>
          </a:prstGeom>
        </p:spPr>
        <p:txBody>
          <a:bodyPr>
            <a:spAutoFit/>
          </a:bodyPr>
          <a:p>
            <a:endParaRPr lang="en-US" altLang="zh-CN" sz="2600"/>
          </a:p>
          <a:p>
            <a:r>
              <a:rPr lang="en-US" altLang="zh-CN" sz="1600"/>
              <a:t>ASM </a:t>
            </a:r>
            <a:r>
              <a:rPr lang="zh-CN" altLang="en-US" sz="1600"/>
              <a:t>通过显式文字标注，引导 </a:t>
            </a:r>
            <a:r>
              <a:rPr lang="en-US" altLang="zh-CN" sz="1600"/>
              <a:t>VLM </a:t>
            </a:r>
            <a:r>
              <a:rPr lang="zh-CN" altLang="en-US" sz="1600"/>
              <a:t>关注与导航相关的语义区域，从而增强模型对地图中物体及空间关系的理解。</a:t>
            </a:r>
            <a:endParaRPr lang="zh-CN" altLang="en-US"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3"/>
          <p:cNvGrpSpPr/>
          <p:nvPr/>
        </p:nvGrpSpPr>
        <p:grpSpPr>
          <a:xfrm>
            <a:off x="102870" y="238125"/>
            <a:ext cx="454660" cy="490220"/>
            <a:chOff x="13580" y="262"/>
            <a:chExt cx="661" cy="772"/>
          </a:xfrm>
        </p:grpSpPr>
        <p:sp>
          <p:nvSpPr>
            <p:cNvPr id="6"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7"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8"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9"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AUTHOR_8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sz="2800" b="1">
                <a:solidFill>
                  <a:srgbClr val="4472C4"/>
                </a:solidFill>
                <a:latin typeface="微软雅黑" panose="020B0503020204020204" charset="-122"/>
                <a:ea typeface="微软雅黑" panose="020B0503020204020204" charset="-122"/>
                <a:cs typeface="微软雅黑" panose="020B0503020204020204" charset="-122"/>
              </a:rPr>
              <a:t>4. 实验结果：仿真环境</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sp>
        <p:nvSpPr>
          <p:cNvPr id="3" name="AUTHOR_8_1"/>
          <p:cNvSpPr>
            <a:spLocks noGrp="1"/>
          </p:cNvSpPr>
          <p:nvPr/>
        </p:nvSpPr>
        <p:spPr>
          <a:xfrm>
            <a:off x="876300" y="5648325"/>
            <a:ext cx="10439400" cy="742950"/>
          </a:xfrm>
          <a:prstGeom prst="rect">
            <a:avLst/>
          </a:prstGeom>
          <a:noFill/>
          <a:ln w="0">
            <a:noFill/>
          </a:ln>
        </p:spPr>
        <p:txBody>
          <a:bodyPr wrap="square" lIns="0" tIns="0" rIns="0" bIns="0" anchor="t">
            <a:noAutofit/>
          </a:bodyPr>
          <a:lstStyle>
            <a:defPPr algn="l">
              <a:defRPr sz="210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l">
              <a:defRPr sz="2100" b="0">
                <a:solidFill>
                  <a:srgbClr val="000000"/>
                </a:solidFill>
                <a:latin typeface="宋体" panose="02010600030101010101" pitchFamily="2" charset="-122"/>
                <a:ea typeface="宋体" panose="02010600030101010101" pitchFamily="2" charset="-122"/>
                <a:cs typeface="宋体" panose="02010600030101010101" pitchFamily="2" charset="-122"/>
              </a:defRPr>
            </a:pPr>
            <a:endParaRPr sz="21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pic>
        <p:nvPicPr>
          <p:cNvPr id="10" name="图片 9"/>
          <p:cNvPicPr>
            <a:picLocks noChangeAspect="1"/>
          </p:cNvPicPr>
          <p:nvPr/>
        </p:nvPicPr>
        <p:blipFill>
          <a:blip r:embed="rId1"/>
          <a:stretch>
            <a:fillRect/>
          </a:stretch>
        </p:blipFill>
        <p:spPr>
          <a:xfrm>
            <a:off x="558165" y="943610"/>
            <a:ext cx="9332595" cy="56908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3"/>
          <p:cNvGrpSpPr/>
          <p:nvPr/>
        </p:nvGrpSpPr>
        <p:grpSpPr>
          <a:xfrm>
            <a:off x="102870" y="238125"/>
            <a:ext cx="454660" cy="490220"/>
            <a:chOff x="13580" y="262"/>
            <a:chExt cx="661" cy="772"/>
          </a:xfrm>
        </p:grpSpPr>
        <p:sp>
          <p:nvSpPr>
            <p:cNvPr id="6"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7"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8"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9"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AUTHOR_10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sz="2800" b="1">
                <a:solidFill>
                  <a:srgbClr val="4472C4"/>
                </a:solidFill>
                <a:latin typeface="微软雅黑" panose="020B0503020204020204" charset="-122"/>
                <a:ea typeface="微软雅黑" panose="020B0503020204020204" charset="-122"/>
                <a:cs typeface="微软雅黑" panose="020B0503020204020204" charset="-122"/>
              </a:rPr>
              <a:t>4. 实验结果：真实环境</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340822" y="1855470"/>
            <a:ext cx="10874086" cy="2628900"/>
          </a:xfrm>
          <a:prstGeom prst="rect">
            <a:avLst/>
          </a:prstGeom>
        </p:spPr>
      </p:pic>
      <p:sp>
        <p:nvSpPr>
          <p:cNvPr id="3" name="AUTHOR_10_1"/>
          <p:cNvSpPr>
            <a:spLocks noGrp="1"/>
          </p:cNvSpPr>
          <p:nvPr/>
        </p:nvSpPr>
        <p:spPr>
          <a:xfrm>
            <a:off x="558165" y="5314950"/>
            <a:ext cx="10439400" cy="1752600"/>
          </a:xfrm>
          <a:prstGeom prst="rect">
            <a:avLst/>
          </a:prstGeom>
          <a:noFill/>
          <a:ln w="0">
            <a:noFill/>
          </a:ln>
        </p:spPr>
        <p:txBody>
          <a:bodyPr wrap="square" lIns="0" tIns="0" rIns="0" bIns="0" anchor="t">
            <a:noAutofit/>
          </a:bodyPr>
          <a:lstStyle>
            <a:def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1800" b="0">
                <a:solidFill>
                  <a:srgbClr val="000000"/>
                </a:solidFill>
                <a:latin typeface="宋体" panose="02010600030101010101" pitchFamily="2" charset="-122"/>
                <a:ea typeface="宋体" panose="02010600030101010101" pitchFamily="2" charset="-122"/>
                <a:cs typeface="宋体" panose="02010600030101010101" pitchFamily="2" charset="-122"/>
              </a:rPr>
              <a:t>5 个室内场景：简单指令 SR 为 70%–90%，语义指令为 60%–70%。</a:t>
            </a:r>
            <a:endParaRPr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25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1800" b="0">
                <a:solidFill>
                  <a:srgbClr val="000000"/>
                </a:solidFill>
                <a:latin typeface="宋体" panose="02010600030101010101" pitchFamily="2" charset="-122"/>
                <a:ea typeface="宋体" panose="02010600030101010101" pitchFamily="2" charset="-122"/>
                <a:cs typeface="宋体" panose="02010600030101010101" pitchFamily="2" charset="-122"/>
              </a:rPr>
              <a:t>报告厅与客厅语义指令的 SR 比 NaVid 高 30 个百分点</a:t>
            </a:r>
            <a:r>
              <a:rPr lang="zh-CN" sz="1800" b="0">
                <a:solidFill>
                  <a:srgbClr val="000000"/>
                </a:solidFill>
                <a:latin typeface="宋体" panose="02010600030101010101" pitchFamily="2" charset="-122"/>
                <a:ea typeface="宋体" panose="02010600030101010101" pitchFamily="2" charset="-122"/>
                <a:cs typeface="宋体" panose="02010600030101010101" pitchFamily="2" charset="-122"/>
              </a:rPr>
              <a:t>，</a:t>
            </a:r>
            <a:r>
              <a:rPr sz="1800" b="0">
                <a:solidFill>
                  <a:srgbClr val="000000"/>
                </a:solidFill>
                <a:latin typeface="宋体" panose="02010600030101010101" pitchFamily="2" charset="-122"/>
                <a:ea typeface="宋体" panose="02010600030101010101" pitchFamily="2" charset="-122"/>
                <a:cs typeface="宋体" panose="02010600030101010101" pitchFamily="2" charset="-122"/>
              </a:rPr>
              <a:t>整体表现更好。</a:t>
            </a:r>
            <a:endParaRPr sz="18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3"/>
          <p:cNvGrpSpPr/>
          <p:nvPr/>
        </p:nvGrpSpPr>
        <p:grpSpPr>
          <a:xfrm>
            <a:off x="102870" y="238125"/>
            <a:ext cx="454660" cy="490220"/>
            <a:chOff x="13580" y="262"/>
            <a:chExt cx="661" cy="772"/>
          </a:xfrm>
        </p:grpSpPr>
        <p:sp>
          <p:nvSpPr>
            <p:cNvPr id="6"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7"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8"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9"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AUTHOR_11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sz="2800" b="1">
                <a:solidFill>
                  <a:srgbClr val="4472C4"/>
                </a:solidFill>
                <a:latin typeface="微软雅黑" panose="020B0503020204020204" charset="-122"/>
                <a:ea typeface="微软雅黑" panose="020B0503020204020204" charset="-122"/>
                <a:cs typeface="微软雅黑" panose="020B0503020204020204" charset="-122"/>
              </a:rPr>
              <a:t>4. 实验结果：效率分析</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033815" y="1495425"/>
            <a:ext cx="10114844" cy="3657600"/>
          </a:xfrm>
          <a:prstGeom prst="rect">
            <a:avLst/>
          </a:prstGeom>
        </p:spPr>
      </p:pic>
      <p:sp>
        <p:nvSpPr>
          <p:cNvPr id="3" name="AUTHOR_11_1"/>
          <p:cNvSpPr>
            <a:spLocks noGrp="1"/>
          </p:cNvSpPr>
          <p:nvPr/>
        </p:nvSpPr>
        <p:spPr>
          <a:xfrm>
            <a:off x="876300" y="5457825"/>
            <a:ext cx="10439400" cy="876300"/>
          </a:xfrm>
          <a:prstGeom prst="rect">
            <a:avLst/>
          </a:prstGeom>
          <a:noFill/>
          <a:ln w="0">
            <a:noFill/>
          </a:ln>
        </p:spPr>
        <p:txBody>
          <a:bodyPr wrap="square" lIns="0" tIns="0" rIns="0" bIns="0" anchor="t">
            <a:noAutofit/>
          </a:bodyPr>
          <a:lstStyle>
            <a:defPPr algn="l">
              <a:defRPr sz="2175"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l">
              <a:defRPr sz="2175"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175" b="0">
                <a:solidFill>
                  <a:srgbClr val="000000"/>
                </a:solidFill>
                <a:latin typeface="宋体" panose="02010600030101010101" pitchFamily="2" charset="-122"/>
                <a:ea typeface="宋体" panose="02010600030101010101" pitchFamily="2" charset="-122"/>
                <a:cs typeface="宋体" panose="02010600030101010101" pitchFamily="2" charset="-122"/>
              </a:rPr>
              <a:t>300 步时历史缓存从 276 MB 降至 0.17 MB，约减少 99.94%。</a:t>
            </a:r>
            <a:endParaRPr sz="2175"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175"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175" b="0">
                <a:solidFill>
                  <a:srgbClr val="000000"/>
                </a:solidFill>
                <a:latin typeface="宋体" panose="02010600030101010101" pitchFamily="2" charset="-122"/>
                <a:ea typeface="宋体" panose="02010600030101010101" pitchFamily="2" charset="-122"/>
                <a:cs typeface="宋体" panose="02010600030101010101" pitchFamily="2" charset="-122"/>
              </a:rPr>
              <a:t>平均处理时间从 1.22 s 降至 0.25 s，约减少 79.5%（约 4.88 倍速度）。</a:t>
            </a:r>
            <a:endParaRPr sz="2175"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3"/>
          <p:cNvGrpSpPr/>
          <p:nvPr/>
        </p:nvGrpSpPr>
        <p:grpSpPr>
          <a:xfrm>
            <a:off x="102870" y="238125"/>
            <a:ext cx="454660" cy="490220"/>
            <a:chOff x="13580" y="262"/>
            <a:chExt cx="661" cy="772"/>
          </a:xfrm>
        </p:grpSpPr>
        <p:sp>
          <p:nvSpPr>
            <p:cNvPr id="6"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7"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8"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9"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AUTHOR_12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lang="en-US" sz="2800" b="1">
                <a:solidFill>
                  <a:srgbClr val="4472C4"/>
                </a:solidFill>
                <a:latin typeface="微软雅黑" panose="020B0503020204020204" charset="-122"/>
                <a:ea typeface="微软雅黑" panose="020B0503020204020204" charset="-122"/>
                <a:cs typeface="微软雅黑" panose="020B0503020204020204" charset="-122"/>
              </a:rPr>
              <a:t>4</a:t>
            </a:r>
            <a:r>
              <a:rPr sz="2800" b="1">
                <a:solidFill>
                  <a:srgbClr val="4472C4"/>
                </a:solidFill>
                <a:latin typeface="微软雅黑" panose="020B0503020204020204" charset="-122"/>
                <a:ea typeface="微软雅黑" panose="020B0503020204020204" charset="-122"/>
                <a:cs typeface="微软雅黑" panose="020B0503020204020204" charset="-122"/>
              </a:rPr>
              <a:t>. 消融：ASM 有效性</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1418859" y="1400175"/>
            <a:ext cx="9268558" cy="4191000"/>
          </a:xfrm>
          <a:prstGeom prst="rect">
            <a:avLst/>
          </a:prstGeom>
        </p:spPr>
      </p:pic>
      <p:sp>
        <p:nvSpPr>
          <p:cNvPr id="3" name="AUTHOR_12_1"/>
          <p:cNvSpPr>
            <a:spLocks noGrp="1"/>
          </p:cNvSpPr>
          <p:nvPr/>
        </p:nvSpPr>
        <p:spPr>
          <a:xfrm>
            <a:off x="876300" y="5819775"/>
            <a:ext cx="10439400" cy="619125"/>
          </a:xfrm>
          <a:prstGeom prst="rect">
            <a:avLst/>
          </a:prstGeom>
          <a:noFill/>
          <a:ln w="0">
            <a:noFill/>
          </a:ln>
        </p:spPr>
        <p:txBody>
          <a:bodyPr wrap="square" lIns="0" tIns="0" rIns="0" bIns="0" anchor="t">
            <a:noAutofit/>
          </a:bodyPr>
          <a:lstStyle>
            <a:defPPr algn="l">
              <a:defRPr sz="210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l">
              <a:defRPr sz="21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100" b="0">
                <a:solidFill>
                  <a:srgbClr val="000000"/>
                </a:solidFill>
                <a:latin typeface="宋体" panose="02010600030101010101" pitchFamily="2" charset="-122"/>
                <a:ea typeface="宋体" panose="02010600030101010101" pitchFamily="2" charset="-122"/>
                <a:cs typeface="宋体" panose="02010600030101010101" pitchFamily="2" charset="-122"/>
              </a:rPr>
              <a:t>ASM 的 SPL 为 34.3，高于语义地图的 24.5。</a:t>
            </a:r>
            <a:endParaRPr sz="21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l">
              <a:defRPr sz="21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100" b="0">
                <a:solidFill>
                  <a:srgbClr val="000000"/>
                </a:solidFill>
                <a:latin typeface="宋体" panose="02010600030101010101" pitchFamily="2" charset="-122"/>
                <a:ea typeface="宋体" panose="02010600030101010101" pitchFamily="2" charset="-122"/>
                <a:cs typeface="宋体" panose="02010600030101010101" pitchFamily="2" charset="-122"/>
              </a:rPr>
              <a:t>原始俯视图的 SPL 为 21.9，低于无地图的 23.2。</a:t>
            </a:r>
            <a:endParaRPr sz="21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3"/>
          <p:cNvGrpSpPr/>
          <p:nvPr/>
        </p:nvGrpSpPr>
        <p:grpSpPr>
          <a:xfrm>
            <a:off x="102870" y="238125"/>
            <a:ext cx="454660" cy="490220"/>
            <a:chOff x="13580" y="262"/>
            <a:chExt cx="661" cy="772"/>
          </a:xfrm>
        </p:grpSpPr>
        <p:sp>
          <p:nvSpPr>
            <p:cNvPr id="6"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7"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8"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9"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AUTHOR_13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lang="en-US" sz="2800" b="1">
                <a:solidFill>
                  <a:srgbClr val="4472C4"/>
                </a:solidFill>
                <a:latin typeface="微软雅黑" panose="020B0503020204020204" charset="-122"/>
                <a:ea typeface="微软雅黑" panose="020B0503020204020204" charset="-122"/>
                <a:cs typeface="微软雅黑" panose="020B0503020204020204" charset="-122"/>
              </a:rPr>
              <a:t>4</a:t>
            </a:r>
            <a:r>
              <a:rPr sz="2800" b="1">
                <a:solidFill>
                  <a:srgbClr val="4472C4"/>
                </a:solidFill>
                <a:latin typeface="微软雅黑" panose="020B0503020204020204" charset="-122"/>
                <a:ea typeface="微软雅黑" panose="020B0503020204020204" charset="-122"/>
                <a:cs typeface="微软雅黑" panose="020B0503020204020204" charset="-122"/>
              </a:rPr>
              <a:t>. 消融：历史帧数量</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2383593" y="1419225"/>
            <a:ext cx="7415289" cy="4276725"/>
          </a:xfrm>
          <a:prstGeom prst="rect">
            <a:avLst/>
          </a:prstGeom>
        </p:spPr>
      </p:pic>
      <p:sp>
        <p:nvSpPr>
          <p:cNvPr id="3" name="AUTHOR_13_1"/>
          <p:cNvSpPr>
            <a:spLocks noGrp="1"/>
          </p:cNvSpPr>
          <p:nvPr/>
        </p:nvSpPr>
        <p:spPr>
          <a:xfrm>
            <a:off x="876300" y="5857875"/>
            <a:ext cx="10439400" cy="590550"/>
          </a:xfrm>
          <a:prstGeom prst="rect">
            <a:avLst/>
          </a:prstGeom>
          <a:noFill/>
          <a:ln w="0">
            <a:noFill/>
          </a:ln>
        </p:spPr>
        <p:txBody>
          <a:bodyPr wrap="square" lIns="0" tIns="0" rIns="0" bIns="0" anchor="t">
            <a:noAutofit/>
          </a:bodyPr>
          <a:lstStyle>
            <a:defPPr algn="l">
              <a:defRPr sz="2025"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l">
              <a:defRPr sz="2025" b="0">
                <a:solidFill>
                  <a:srgbClr val="000000"/>
                </a:solidFill>
                <a:latin typeface="宋体" panose="02010600030101010101" pitchFamily="2" charset="-122"/>
                <a:ea typeface="宋体" panose="02010600030101010101" pitchFamily="2" charset="-122"/>
                <a:cs typeface="宋体" panose="02010600030101010101" pitchFamily="2" charset="-122"/>
              </a:defRPr>
            </a:pPr>
            <a:r>
              <a:rPr lang="zh-CN" altLang="en-US" sz="2025" b="0">
                <a:solidFill>
                  <a:srgbClr val="000000"/>
                </a:solidFill>
                <a:latin typeface="宋体" panose="02010600030101010101" pitchFamily="2" charset="-122"/>
                <a:ea typeface="宋体" panose="02010600030101010101" pitchFamily="2" charset="-122"/>
                <a:cs typeface="宋体" panose="02010600030101010101" pitchFamily="2" charset="-122"/>
              </a:rPr>
              <a:t>引入 </a:t>
            </a:r>
            <a:r>
              <a:rPr lang="en-US" altLang="zh-CN" sz="2025" b="0">
                <a:solidFill>
                  <a:srgbClr val="000000"/>
                </a:solidFill>
                <a:latin typeface="宋体" panose="02010600030101010101" pitchFamily="2" charset="-122"/>
                <a:ea typeface="宋体" panose="02010600030101010101" pitchFamily="2" charset="-122"/>
                <a:cs typeface="宋体" panose="02010600030101010101" pitchFamily="2" charset="-122"/>
              </a:rPr>
              <a:t>ASM </a:t>
            </a:r>
            <a:r>
              <a:rPr lang="zh-CN" altLang="en-US" sz="2025" b="0">
                <a:solidFill>
                  <a:srgbClr val="000000"/>
                </a:solidFill>
                <a:latin typeface="宋体" panose="02010600030101010101" pitchFamily="2" charset="-122"/>
                <a:ea typeface="宋体" panose="02010600030101010101" pitchFamily="2" charset="-122"/>
                <a:cs typeface="宋体" panose="02010600030101010101" pitchFamily="2" charset="-122"/>
              </a:rPr>
              <a:t>能显著提升导航性能，而增加历史 </a:t>
            </a:r>
            <a:r>
              <a:rPr lang="en-US" altLang="zh-CN" sz="2025" b="0">
                <a:solidFill>
                  <a:srgbClr val="000000"/>
                </a:solidFill>
                <a:latin typeface="宋体" panose="02010600030101010101" pitchFamily="2" charset="-122"/>
                <a:ea typeface="宋体" panose="02010600030101010101" pitchFamily="2" charset="-122"/>
                <a:cs typeface="宋体" panose="02010600030101010101" pitchFamily="2" charset="-122"/>
              </a:rPr>
              <a:t>RGB </a:t>
            </a:r>
            <a:r>
              <a:rPr lang="zh-CN" altLang="en-US" sz="2025" b="0">
                <a:solidFill>
                  <a:srgbClr val="000000"/>
                </a:solidFill>
                <a:latin typeface="宋体" panose="02010600030101010101" pitchFamily="2" charset="-122"/>
                <a:ea typeface="宋体" panose="02010600030101010101" pitchFamily="2" charset="-122"/>
                <a:cs typeface="宋体" panose="02010600030101010101" pitchFamily="2" charset="-122"/>
              </a:rPr>
              <a:t>帧仅带来有限的额外增益，说明 </a:t>
            </a:r>
            <a:r>
              <a:rPr lang="en-US" altLang="zh-CN" sz="2025" b="0">
                <a:solidFill>
                  <a:srgbClr val="000000"/>
                </a:solidFill>
                <a:latin typeface="宋体" panose="02010600030101010101" pitchFamily="2" charset="-122"/>
                <a:ea typeface="宋体" panose="02010600030101010101" pitchFamily="2" charset="-122"/>
                <a:cs typeface="宋体" panose="02010600030101010101" pitchFamily="2" charset="-122"/>
              </a:rPr>
              <a:t>ASM </a:t>
            </a:r>
            <a:r>
              <a:rPr lang="zh-CN" altLang="en-US" sz="2025" b="0">
                <a:solidFill>
                  <a:srgbClr val="000000"/>
                </a:solidFill>
                <a:latin typeface="宋体" panose="02010600030101010101" pitchFamily="2" charset="-122"/>
                <a:ea typeface="宋体" panose="02010600030101010101" pitchFamily="2" charset="-122"/>
                <a:cs typeface="宋体" panose="02010600030101010101" pitchFamily="2" charset="-122"/>
              </a:rPr>
              <a:t>能有效替代大量历史图像作为导航记忆。</a:t>
            </a:r>
            <a:endParaRPr lang="zh-CN" altLang="en-US" sz="2025"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 name="组合 3"/>
          <p:cNvGrpSpPr/>
          <p:nvPr/>
        </p:nvGrpSpPr>
        <p:grpSpPr>
          <a:xfrm>
            <a:off x="102870" y="238125"/>
            <a:ext cx="454660" cy="490220"/>
            <a:chOff x="13580" y="262"/>
            <a:chExt cx="661" cy="772"/>
          </a:xfrm>
        </p:grpSpPr>
        <p:sp>
          <p:nvSpPr>
            <p:cNvPr id="10"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11"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12" name="矩形: 圆角 4"/>
          <p:cNvSpPr/>
          <p:nvPr/>
        </p:nvSpPr>
        <p:spPr>
          <a:xfrm>
            <a:off x="9525" y="867410"/>
            <a:ext cx="1218247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13"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8" name="AUTHOR_15_0"/>
          <p:cNvSpPr>
            <a:spLocks noGrp="1"/>
          </p:cNvSpPr>
          <p:nvPr/>
        </p:nvSpPr>
        <p:spPr>
          <a:xfrm>
            <a:off x="672465" y="178594"/>
            <a:ext cx="10953750" cy="523875"/>
          </a:xfrm>
          <a:prstGeom prst="rect">
            <a:avLst/>
          </a:prstGeom>
          <a:noFill/>
          <a:ln w="0">
            <a:noFill/>
          </a:ln>
        </p:spPr>
        <p:txBody>
          <a:bodyPr wrap="square" lIns="0" tIns="0" rIns="0" bIns="0" anchor="t">
            <a:noAutofit/>
          </a:bodyPr>
          <a:lstStyle>
            <a:defPPr algn="l">
              <a:defRPr sz="2800" b="1">
                <a:solidFill>
                  <a:srgbClr val="4472C4"/>
                </a:solidFill>
                <a:latin typeface="微软雅黑" panose="020B0503020204020204" charset="-122"/>
                <a:ea typeface="微软雅黑" panose="020B0503020204020204" charset="-122"/>
                <a:cs typeface="微软雅黑" panose="020B0503020204020204" charset="-122"/>
              </a:defRPr>
            </a:defPPr>
          </a:lstStyle>
          <a:p>
            <a:pPr algn="l">
              <a:defRPr sz="2800" b="1">
                <a:solidFill>
                  <a:srgbClr val="4472C4"/>
                </a:solidFill>
                <a:latin typeface="微软雅黑" panose="020B0503020204020204" charset="-122"/>
                <a:ea typeface="微软雅黑" panose="020B0503020204020204" charset="-122"/>
                <a:cs typeface="微软雅黑" panose="020B0503020204020204" charset="-122"/>
              </a:defRPr>
            </a:pPr>
            <a:r>
              <a:rPr lang="en-US" sz="2800" b="1">
                <a:solidFill>
                  <a:srgbClr val="4472C4"/>
                </a:solidFill>
                <a:latin typeface="微软雅黑" panose="020B0503020204020204" charset="-122"/>
                <a:ea typeface="微软雅黑" panose="020B0503020204020204" charset="-122"/>
                <a:cs typeface="微软雅黑" panose="020B0503020204020204" charset="-122"/>
              </a:rPr>
              <a:t>5</a:t>
            </a:r>
            <a:r>
              <a:rPr sz="2800" b="1">
                <a:solidFill>
                  <a:srgbClr val="4472C4"/>
                </a:solidFill>
                <a:latin typeface="微软雅黑" panose="020B0503020204020204" charset="-122"/>
                <a:ea typeface="微软雅黑" panose="020B0503020204020204" charset="-122"/>
                <a:cs typeface="微软雅黑" panose="020B0503020204020204" charset="-122"/>
              </a:rPr>
              <a:t>. 结论与展望</a:t>
            </a:r>
            <a:endParaRPr sz="2800" b="1">
              <a:solidFill>
                <a:srgbClr val="4472C4"/>
              </a:solidFill>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777875" y="1343025"/>
            <a:ext cx="9442450" cy="3956685"/>
          </a:xfrm>
          <a:prstGeom prst="rect">
            <a:avLst/>
          </a:prstGeom>
        </p:spPr>
        <p:txBody>
          <a:bodyPr wrap="square">
            <a:noAutofit/>
          </a:bodyPr>
          <a:p>
            <a:pPr>
              <a:spcAft>
                <a:spcPct val="60000"/>
              </a:spcAft>
            </a:pPr>
            <a:r>
              <a:rPr lang="en-US" altLang="zh-CN" sz="2200" b="1">
                <a:latin typeface="宋体" panose="02010600030101010101" pitchFamily="2" charset="-122"/>
                <a:ea typeface="宋体" panose="02010600030101010101" pitchFamily="2" charset="-122"/>
                <a:cs typeface="宋体" panose="02010600030101010101" pitchFamily="2" charset="-122"/>
              </a:rPr>
              <a:t>MapNav </a:t>
            </a:r>
            <a:r>
              <a:rPr lang="zh-CN" altLang="en-US" sz="2200" b="1">
                <a:latin typeface="宋体" panose="02010600030101010101" pitchFamily="2" charset="-122"/>
                <a:ea typeface="宋体" panose="02010600030101010101" pitchFamily="2" charset="-122"/>
                <a:cs typeface="宋体" panose="02010600030101010101" pitchFamily="2" charset="-122"/>
              </a:rPr>
              <a:t>创新贡献、局限性与未来展望</a:t>
            </a:r>
            <a:endParaRPr lang="zh-CN" altLang="en-US" sz="2200" b="1">
              <a:latin typeface="宋体" panose="02010600030101010101" pitchFamily="2" charset="-122"/>
              <a:ea typeface="宋体" panose="02010600030101010101" pitchFamily="2" charset="-122"/>
              <a:cs typeface="宋体" panose="02010600030101010101" pitchFamily="2" charset="-122"/>
            </a:endParaRPr>
          </a:p>
          <a:p>
            <a:r>
              <a:rPr lang="en-US" altLang="zh-CN">
                <a:latin typeface="宋体" panose="02010600030101010101" pitchFamily="2" charset="-122"/>
                <a:ea typeface="宋体" panose="02010600030101010101" pitchFamily="2" charset="-122"/>
                <a:cs typeface="宋体" panose="02010600030101010101" pitchFamily="2" charset="-122"/>
              </a:rPr>
              <a:t>① </a:t>
            </a:r>
            <a:r>
              <a:rPr lang="zh-CN" altLang="en-US">
                <a:latin typeface="宋体" panose="02010600030101010101" pitchFamily="2" charset="-122"/>
                <a:ea typeface="宋体" panose="02010600030101010101" pitchFamily="2" charset="-122"/>
                <a:cs typeface="宋体" panose="02010600030101010101" pitchFamily="2" charset="-122"/>
              </a:rPr>
              <a:t>核心贡献</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zh-CN" altLang="en-US">
                <a:latin typeface="宋体" panose="02010600030101010101" pitchFamily="2" charset="-122"/>
                <a:ea typeface="宋体" panose="02010600030101010101" pitchFamily="2" charset="-122"/>
                <a:cs typeface="宋体" panose="02010600030101010101" pitchFamily="2" charset="-122"/>
              </a:rPr>
              <a:t>提出带有显式文字标注的语义地图，作为新型空间记忆表示，增强视觉语言模型的空间理解能力；构建端到端导航框架，在减少历史图像依赖的同时，提升导航性能与计算效率，并通过仿真和真实环境实验验证有效性。</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en-US" altLang="zh-CN">
                <a:latin typeface="宋体" panose="02010600030101010101" pitchFamily="2" charset="-122"/>
                <a:ea typeface="宋体" panose="02010600030101010101" pitchFamily="2" charset="-122"/>
                <a:cs typeface="宋体" panose="02010600030101010101" pitchFamily="2" charset="-122"/>
              </a:rPr>
              <a:t>② </a:t>
            </a:r>
            <a:r>
              <a:rPr lang="zh-CN" altLang="en-US">
                <a:latin typeface="宋体" panose="02010600030101010101" pitchFamily="2" charset="-122"/>
                <a:ea typeface="宋体" panose="02010600030101010101" pitchFamily="2" charset="-122"/>
                <a:cs typeface="宋体" panose="02010600030101010101" pitchFamily="2" charset="-122"/>
              </a:rPr>
              <a:t>现有局限</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zh-CN" altLang="en-US">
                <a:latin typeface="宋体" panose="02010600030101010101" pitchFamily="2" charset="-122"/>
                <a:ea typeface="宋体" panose="02010600030101010101" pitchFamily="2" charset="-122"/>
                <a:cs typeface="宋体" panose="02010600030101010101" pitchFamily="2" charset="-122"/>
              </a:rPr>
              <a:t>地图构建依赖语义分割精度，易受遮挡和光照变化影响；对动态环境及复杂导航场景的适应能力尚待验证；语义标注主要局限于基础物体类别，缺乏细粒度属性和交互信息。</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en-US" altLang="zh-CN">
                <a:latin typeface="宋体" panose="02010600030101010101" pitchFamily="2" charset="-122"/>
                <a:ea typeface="宋体" panose="02010600030101010101" pitchFamily="2" charset="-122"/>
                <a:cs typeface="宋体" panose="02010600030101010101" pitchFamily="2" charset="-122"/>
              </a:rPr>
              <a:t>③ </a:t>
            </a:r>
            <a:r>
              <a:rPr lang="zh-CN" altLang="en-US">
                <a:latin typeface="宋体" panose="02010600030101010101" pitchFamily="2" charset="-122"/>
                <a:ea typeface="宋体" panose="02010600030101010101" pitchFamily="2" charset="-122"/>
                <a:cs typeface="宋体" panose="02010600030101010101" pitchFamily="2" charset="-122"/>
              </a:rPr>
              <a:t>未来研究方向</a:t>
            </a:r>
            <a:endParaRPr lang="zh-CN" altLang="en-US">
              <a:latin typeface="宋体" panose="02010600030101010101" pitchFamily="2" charset="-122"/>
              <a:ea typeface="宋体" panose="02010600030101010101" pitchFamily="2" charset="-122"/>
              <a:cs typeface="宋体" panose="02010600030101010101" pitchFamily="2" charset="-122"/>
            </a:endParaRPr>
          </a:p>
          <a:p>
            <a:r>
              <a:rPr lang="zh-CN" altLang="en-US">
                <a:latin typeface="宋体" panose="02010600030101010101" pitchFamily="2" charset="-122"/>
                <a:ea typeface="宋体" panose="02010600030101010101" pitchFamily="2" charset="-122"/>
                <a:cs typeface="宋体" panose="02010600030101010101" pitchFamily="2" charset="-122"/>
              </a:rPr>
              <a:t>探索多视角感知与动态语义地图更新，增强复杂环境下的鲁棒性；提升模型跨场景泛化能力；融合物体可供性与交互属性，拓展至交互式导航和物体操作；优化地图生成效率，实现轻量化部署。</a:t>
            </a:r>
            <a:endParaRPr lang="zh-CN" altLang="en-US">
              <a:latin typeface="宋体" panose="02010600030101010101" pitchFamily="2" charset="-122"/>
              <a:ea typeface="宋体" panose="02010600030101010101" pitchFamily="2" charset="-122"/>
              <a:cs typeface="宋体" panose="02010600030101010101" pitchFamily="2" charset="-122"/>
            </a:endParaRPr>
          </a:p>
          <a:p>
            <a:endParaRPr lang="zh-CN" altLang="en-US">
              <a:latin typeface="宋体" panose="02010600030101010101" pitchFamily="2" charset="-122"/>
              <a:ea typeface="宋体" panose="02010600030101010101" pitchFamily="2" charset="-122"/>
              <a:cs typeface="宋体" panose="02010600030101010101" pitchFamily="2" charset="-122"/>
            </a:endParaRPr>
          </a:p>
          <a:p>
            <a:pPr indent="457200"/>
            <a:r>
              <a:rPr lang="zh-CN" altLang="en-US">
                <a:latin typeface="宋体" panose="02010600030101010101" pitchFamily="2" charset="-122"/>
                <a:ea typeface="宋体" panose="02010600030101010101" pitchFamily="2" charset="-122"/>
                <a:cs typeface="宋体" panose="02010600030101010101" pitchFamily="2" charset="-122"/>
              </a:rPr>
              <a:t>总结：</a:t>
            </a:r>
            <a:r>
              <a:rPr lang="en-US" altLang="zh-CN">
                <a:latin typeface="宋体" panose="02010600030101010101" pitchFamily="2" charset="-122"/>
                <a:ea typeface="宋体" panose="02010600030101010101" pitchFamily="2" charset="-122"/>
                <a:cs typeface="宋体" panose="02010600030101010101" pitchFamily="2" charset="-122"/>
              </a:rPr>
              <a:t>MapNav </a:t>
            </a:r>
            <a:r>
              <a:rPr lang="zh-CN" altLang="en-US">
                <a:latin typeface="宋体" panose="02010600030101010101" pitchFamily="2" charset="-122"/>
                <a:ea typeface="宋体" panose="02010600030101010101" pitchFamily="2" charset="-122"/>
                <a:cs typeface="宋体" panose="02010600030101010101" pitchFamily="2" charset="-122"/>
              </a:rPr>
              <a:t>通过结构化空间记忆与显式语义标注提升导航效率，未来可向动态环境感知、丰富语义表达和复杂具身任务进一步拓展。</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 name="组合 12"/>
          <p:cNvGrpSpPr/>
          <p:nvPr/>
        </p:nvGrpSpPr>
        <p:grpSpPr>
          <a:xfrm>
            <a:off x="-161925" y="129540"/>
            <a:ext cx="2284730" cy="636270"/>
            <a:chOff x="1984" y="111"/>
            <a:chExt cx="3598" cy="1002"/>
          </a:xfrm>
        </p:grpSpPr>
        <p:sp>
          <p:nvSpPr>
            <p:cNvPr id="6"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14"/>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8" name="矩形: 圆角 4"/>
          <p:cNvSpPr/>
          <p:nvPr/>
        </p:nvSpPr>
        <p:spPr>
          <a:xfrm>
            <a:off x="9259002" y="6541576"/>
            <a:ext cx="2932998" cy="316424"/>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grpSp>
        <p:nvGrpSpPr>
          <p:cNvPr id="9" name="组合 6"/>
          <p:cNvGrpSpPr/>
          <p:nvPr/>
        </p:nvGrpSpPr>
        <p:grpSpPr>
          <a:xfrm rot="15433288">
            <a:off x="2951347" y="-245645"/>
            <a:ext cx="6361278" cy="7047820"/>
            <a:chOff x="4297364" y="903288"/>
            <a:chExt cx="2946834" cy="3067178"/>
          </a:xfrm>
          <a:solidFill>
            <a:schemeClr val="accent1">
              <a:alpha val="3000"/>
            </a:schemeClr>
          </a:solidFill>
        </p:grpSpPr>
        <p:sp>
          <p:nvSpPr>
            <p:cNvPr id="1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sp>
        <p:nvSpPr>
          <p:cNvPr id="4" name="AUTHOR_16_0"/>
          <p:cNvSpPr>
            <a:spLocks noGrp="1"/>
          </p:cNvSpPr>
          <p:nvPr/>
        </p:nvSpPr>
        <p:spPr>
          <a:xfrm>
            <a:off x="1524000" y="1857375"/>
            <a:ext cx="9144000" cy="1647825"/>
          </a:xfrm>
          <a:prstGeom prst="rect">
            <a:avLst/>
          </a:prstGeom>
          <a:noFill/>
          <a:ln w="0">
            <a:noFill/>
          </a:ln>
        </p:spPr>
        <p:txBody>
          <a:bodyPr wrap="square" lIns="0" tIns="0" rIns="0" bIns="0" anchor="t">
            <a:noAutofit/>
          </a:bodyPr>
          <a:lstStyle>
            <a:defPPr algn="ctr">
              <a:defRPr sz="440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ctr">
              <a:defRPr sz="44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4400" b="0">
                <a:solidFill>
                  <a:srgbClr val="000000"/>
                </a:solidFill>
                <a:latin typeface="宋体" panose="02010600030101010101" pitchFamily="2" charset="-122"/>
                <a:ea typeface="宋体" panose="02010600030101010101" pitchFamily="2" charset="-122"/>
                <a:cs typeface="宋体" panose="02010600030101010101" pitchFamily="2" charset="-122"/>
              </a:rPr>
              <a:t>感谢倾听</a:t>
            </a:r>
            <a:endParaRPr sz="44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ctr">
              <a:defRPr sz="44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4400" b="0">
                <a:solidFill>
                  <a:srgbClr val="000000"/>
                </a:solidFill>
                <a:latin typeface="宋体" panose="02010600030101010101" pitchFamily="2" charset="-122"/>
                <a:ea typeface="宋体" panose="02010600030101010101" pitchFamily="2" charset="-122"/>
                <a:cs typeface="宋体" panose="02010600030101010101" pitchFamily="2" charset="-122"/>
              </a:rPr>
              <a:t>请老师和同学们批评指正</a:t>
            </a:r>
            <a:endParaRPr sz="44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
        <p:nvSpPr>
          <p:cNvPr id="2" name="AUTHOR_16_1"/>
          <p:cNvSpPr>
            <a:spLocks noGrp="1"/>
          </p:cNvSpPr>
          <p:nvPr/>
        </p:nvSpPr>
        <p:spPr>
          <a:xfrm>
            <a:off x="4419600" y="3867150"/>
            <a:ext cx="3371850" cy="523875"/>
          </a:xfrm>
          <a:prstGeom prst="rect">
            <a:avLst/>
          </a:prstGeom>
          <a:noFill/>
          <a:ln w="0">
            <a:noFill/>
          </a:ln>
        </p:spPr>
        <p:txBody>
          <a:bodyPr wrap="square" lIns="0" tIns="0" rIns="0" bIns="0" anchor="t">
            <a:noAutofit/>
          </a:bodyPr>
          <a:lstStyle>
            <a:defPPr algn="ctr">
              <a:defRPr sz="280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ctr">
              <a:defRPr sz="28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800" b="0">
                <a:solidFill>
                  <a:srgbClr val="000000"/>
                </a:solidFill>
                <a:latin typeface="宋体" panose="02010600030101010101" pitchFamily="2" charset="-122"/>
                <a:ea typeface="宋体" panose="02010600030101010101" pitchFamily="2" charset="-122"/>
                <a:cs typeface="宋体" panose="02010600030101010101" pitchFamily="2" charset="-122"/>
              </a:rPr>
              <a:t>汇报人：王浩南</a:t>
            </a:r>
            <a:endParaRPr sz="28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
        <p:nvSpPr>
          <p:cNvPr id="3" name="AUTHOR_16_2"/>
          <p:cNvSpPr>
            <a:spLocks noGrp="1"/>
          </p:cNvSpPr>
          <p:nvPr/>
        </p:nvSpPr>
        <p:spPr>
          <a:xfrm>
            <a:off x="4419600" y="4705350"/>
            <a:ext cx="3371850" cy="457200"/>
          </a:xfrm>
          <a:prstGeom prst="rect">
            <a:avLst/>
          </a:prstGeom>
          <a:noFill/>
          <a:ln w="0">
            <a:noFill/>
          </a:ln>
        </p:spPr>
        <p:txBody>
          <a:bodyPr wrap="square" lIns="0" tIns="0" rIns="0" bIns="0" anchor="t">
            <a:noAutofit/>
          </a:bodyPr>
          <a:lstStyle>
            <a:defPPr algn="ctr">
              <a:defRPr sz="2400" b="0">
                <a:solidFill>
                  <a:srgbClr val="000000"/>
                </a:solidFill>
                <a:latin typeface="宋体" panose="02010600030101010101" pitchFamily="2" charset="-122"/>
                <a:ea typeface="宋体" panose="02010600030101010101" pitchFamily="2" charset="-122"/>
                <a:cs typeface="宋体" panose="02010600030101010101" pitchFamily="2" charset="-122"/>
              </a:defRPr>
            </a:defPPr>
          </a:lstStyle>
          <a:p>
            <a:pPr algn="ctr">
              <a:defRPr sz="2400" b="0">
                <a:solidFill>
                  <a:srgbClr val="000000"/>
                </a:solidFill>
                <a:latin typeface="宋体" panose="02010600030101010101" pitchFamily="2" charset="-122"/>
                <a:ea typeface="宋体" panose="02010600030101010101" pitchFamily="2" charset="-122"/>
                <a:cs typeface="宋体" panose="02010600030101010101" pitchFamily="2" charset="-122"/>
              </a:defRPr>
            </a:pPr>
            <a:r>
              <a:rPr sz="2400" b="0">
                <a:solidFill>
                  <a:srgbClr val="000000"/>
                </a:solidFill>
                <a:latin typeface="宋体" panose="02010600030101010101" pitchFamily="2" charset="-122"/>
                <a:ea typeface="宋体" panose="02010600030101010101" pitchFamily="2" charset="-122"/>
                <a:cs typeface="宋体" panose="02010600030101010101" pitchFamily="2" charset="-122"/>
              </a:rPr>
              <a:t>2026.10.1</a:t>
            </a:r>
            <a:r>
              <a:rPr lang="en-US" sz="2400" b="0">
                <a:solidFill>
                  <a:srgbClr val="000000"/>
                </a:solidFill>
                <a:latin typeface="宋体" panose="02010600030101010101" pitchFamily="2" charset="-122"/>
                <a:ea typeface="宋体" panose="02010600030101010101" pitchFamily="2" charset="-122"/>
                <a:cs typeface="宋体" panose="02010600030101010101" pitchFamily="2" charset="-122"/>
              </a:rPr>
              <a:t>4</a:t>
            </a:r>
            <a:endParaRPr lang="en-US" sz="2400" b="0">
              <a:solidFill>
                <a:srgbClr val="000000"/>
              </a:solidFill>
              <a:latin typeface="宋体" panose="02010600030101010101" pitchFamily="2" charset="-122"/>
              <a:ea typeface="宋体" panose="02010600030101010101" pitchFamily="2" charset="-122"/>
              <a:cs typeface="宋体" panose="02010600030101010101" pitchFamily="2" charset="-122"/>
            </a:endParaRPr>
          </a:p>
          <a:p>
            <a:pPr algn="ctr">
              <a:defRPr sz="2400" b="0">
                <a:solidFill>
                  <a:srgbClr val="000000"/>
                </a:solidFill>
                <a:latin typeface="宋体" panose="02010600030101010101" pitchFamily="2" charset="-122"/>
                <a:ea typeface="宋体" panose="02010600030101010101" pitchFamily="2" charset="-122"/>
                <a:cs typeface="宋体" panose="02010600030101010101" pitchFamily="2" charset="-122"/>
              </a:defRPr>
            </a:pPr>
            <a:endParaRPr lang="en-US" sz="2400" b="0">
              <a:solidFill>
                <a:srgbClr val="00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TABLE_ENDDRAG_ORIGIN_RECT" val="531*257"/>
  <p:tag name="TABLE_ENDDRAG_RECT" val="370*157*531*25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2277</Words>
  <Application>WPS 演示</Application>
  <PresentationFormat>Converted Presentation</PresentationFormat>
  <Paragraphs>172</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宋体</vt:lpstr>
      <vt:lpstr>Wingdings</vt:lpstr>
      <vt:lpstr>Arial</vt:lpstr>
      <vt:lpstr>微软雅黑</vt:lpstr>
      <vt:lpstr>Wingdings</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王浩南</cp:lastModifiedBy>
  <cp:revision>5</cp:revision>
  <dcterms:created xsi:type="dcterms:W3CDTF">2026-10-11T11:55:00Z</dcterms:created>
  <dcterms:modified xsi:type="dcterms:W3CDTF">2026-10-13T12:30:11Z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DF6AEC94873D426C8657C79BF7B55FC5_13</vt:lpwstr>
  </property>
</Properties>
</file>