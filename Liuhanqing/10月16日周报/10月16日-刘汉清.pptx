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59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130" y="72"/>
      </p:cViewPr>
      <p:guideLst>
        <p:guide orient="horz" pos="2160"/>
        <p:guide pos="39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microsoft.com/office/2007/relationships/media" Target="../media/media3.mp4"/><Relationship Id="rId7" Type="http://schemas.openxmlformats.org/officeDocument/2006/relationships/video" Target="../media/media3.mp4"/><Relationship Id="rId6" Type="http://schemas.openxmlformats.org/officeDocument/2006/relationships/image" Target="../media/image12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11.png"/><Relationship Id="rId2" Type="http://schemas.microsoft.com/office/2007/relationships/media" Target="../media/media1.mp4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.xml"/><Relationship Id="rId14" Type="http://schemas.openxmlformats.org/officeDocument/2006/relationships/tags" Target="../tags/tag5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tags" Target="../tags/tag2.xml"/><Relationship Id="rId10" Type="http://schemas.openxmlformats.org/officeDocument/2006/relationships/tags" Target="../tags/tag1.xml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736600" y="296545"/>
            <a:ext cx="8548370" cy="589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>
                <a:sym typeface="+mn-ea"/>
              </a:rPr>
              <a:t>结构制备区：设备摆放图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71475" y="909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）布局图：</a:t>
            </a:r>
            <a:r>
              <a:rPr lang="zh-CN" altLang="en-US"/>
              <a:t>轮廓图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443095" y="909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）布局图：仿真</a:t>
            </a:r>
            <a:r>
              <a:rPr lang="zh-CN" altLang="en-US"/>
              <a:t>环境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4605"/>
            <a:ext cx="4465320" cy="4100195"/>
          </a:xfrm>
          <a:prstGeom prst="rect">
            <a:avLst/>
          </a:prstGeom>
        </p:spPr>
      </p:pic>
      <p:pic>
        <p:nvPicPr>
          <p:cNvPr id="6" name="图片 5" descr="assembled_Overview"/>
          <p:cNvPicPr>
            <a:picLocks noChangeAspect="1"/>
          </p:cNvPicPr>
          <p:nvPr/>
        </p:nvPicPr>
        <p:blipFill>
          <a:blip r:embed="rId2"/>
          <a:srcRect l="17219" t="7559" r="15613"/>
          <a:stretch>
            <a:fillRect/>
          </a:stretch>
        </p:blipFill>
        <p:spPr>
          <a:xfrm>
            <a:off x="4616450" y="1419225"/>
            <a:ext cx="3059430" cy="2632710"/>
          </a:xfrm>
          <a:prstGeom prst="rect">
            <a:avLst/>
          </a:prstGeom>
        </p:spPr>
      </p:pic>
      <p:pic>
        <p:nvPicPr>
          <p:cNvPr id="10" name="图片 9" descr="assembled_Open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10" y="1419225"/>
            <a:ext cx="4210050" cy="2632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66280" y="4236720"/>
            <a:ext cx="51257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/>
              <a:t>结构制备区直径：</a:t>
            </a:r>
            <a:r>
              <a:rPr lang="en-US" altLang="zh-CN" b="1">
                <a:solidFill>
                  <a:srgbClr val="137D8D"/>
                </a:solidFill>
              </a:rPr>
              <a:t>3.20m </a:t>
            </a:r>
            <a:r>
              <a:rPr lang="en-US" altLang="zh-CN" b="1">
                <a:solidFill>
                  <a:schemeClr val="tx1"/>
                </a:solidFill>
              </a:rPr>
              <a:t>|</a:t>
            </a:r>
            <a:r>
              <a:rPr lang="en-US" altLang="zh-CN" b="1">
                <a:solidFill>
                  <a:srgbClr val="137D8D"/>
                </a:solidFill>
              </a:rPr>
              <a:t> </a:t>
            </a:r>
            <a:r>
              <a:rPr lang="zh-CN" altLang="en-US" b="1"/>
              <a:t>中央台面高度：</a:t>
            </a:r>
            <a:r>
              <a:rPr lang="en-US" altLang="zh-CN" b="1">
                <a:solidFill>
                  <a:srgbClr val="137D8D"/>
                </a:solidFill>
              </a:rPr>
              <a:t>0.75m </a:t>
            </a:r>
            <a:endParaRPr lang="en-US" altLang="zh-CN" b="1">
              <a:solidFill>
                <a:schemeClr val="tx1"/>
              </a:solidFill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b="1"/>
              <a:t>滑台高度：</a:t>
            </a:r>
            <a:r>
              <a:rPr lang="en-US" altLang="zh-CN" b="1">
                <a:solidFill>
                  <a:srgbClr val="137D8D"/>
                </a:solidFill>
              </a:rPr>
              <a:t>0.181m            </a:t>
            </a:r>
            <a:r>
              <a:rPr lang="en-US" altLang="zh-CN" b="1">
                <a:solidFill>
                  <a:schemeClr val="tx1"/>
                </a:solidFill>
              </a:rPr>
              <a:t>|</a:t>
            </a:r>
            <a:r>
              <a:rPr lang="en-US" altLang="zh-CN" b="1">
                <a:solidFill>
                  <a:srgbClr val="137D8D"/>
                </a:solidFill>
              </a:rPr>
              <a:t> </a:t>
            </a:r>
            <a:r>
              <a:rPr lang="en-US" altLang="zh-CN" b="1"/>
              <a:t>X/Y </a:t>
            </a:r>
            <a:r>
              <a:rPr lang="zh-CN" altLang="en-US" b="1"/>
              <a:t>单轴行程：</a:t>
            </a:r>
            <a:r>
              <a:rPr lang="en-US" altLang="zh-CN" b="1">
                <a:solidFill>
                  <a:srgbClr val="137D8D"/>
                </a:solidFill>
              </a:rPr>
              <a:t>1.00m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/>
                </a:solidFill>
              </a:rPr>
              <a:t>拥有设备：</a:t>
            </a:r>
            <a:endParaRPr lang="zh-CN" altLang="en-US" b="1">
              <a:solidFill>
                <a:schemeClr val="tx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Bambu H2D</a:t>
            </a:r>
            <a:r>
              <a:rPr lang="zh-CN" altLang="en-US">
                <a:sym typeface="+mn-ea"/>
              </a:rPr>
              <a:t>打印机</a:t>
            </a:r>
            <a:r>
              <a:rPr lang="en-US" altLang="zh-CN">
                <a:sym typeface="+mn-ea"/>
              </a:rPr>
              <a:t> X2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Bambu A1</a:t>
            </a:r>
            <a:r>
              <a:rPr lang="zh-CN" altLang="en-US">
                <a:sym typeface="+mn-ea"/>
              </a:rPr>
              <a:t>打印机</a:t>
            </a:r>
            <a:r>
              <a:rPr lang="en-US" altLang="zh-CN">
                <a:sym typeface="+mn-ea"/>
              </a:rPr>
              <a:t> X4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MakerGear M3-ID </a:t>
            </a:r>
            <a:r>
              <a:rPr lang="zh-CN" altLang="en-US">
                <a:sym typeface="+mn-ea"/>
              </a:rPr>
              <a:t>打印机</a:t>
            </a:r>
            <a:r>
              <a:rPr lang="en-US" altLang="zh-CN">
                <a:sym typeface="+mn-ea"/>
              </a:rPr>
              <a:t> X1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Panda</a:t>
            </a:r>
            <a:r>
              <a:rPr lang="zh-CN" altLang="en-US">
                <a:solidFill>
                  <a:schemeClr val="tx1"/>
                </a:solidFill>
              </a:rPr>
              <a:t>机械臂</a:t>
            </a:r>
            <a:r>
              <a:rPr lang="en-US" altLang="zh-CN">
                <a:solidFill>
                  <a:schemeClr val="tx1"/>
                </a:solidFill>
              </a:rPr>
              <a:t>(PGEA-100-40)</a:t>
            </a:r>
            <a:endParaRPr lang="en-US" altLang="zh-CN">
              <a:solidFill>
                <a:schemeClr val="tx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、置物区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 descr="capture.2026-10-06 15.31.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0" y="4711065"/>
            <a:ext cx="3025140" cy="1702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736600" y="296545"/>
            <a:ext cx="8548370" cy="589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2</a:t>
            </a:r>
            <a:r>
              <a:rPr lang="zh-CN" altLang="en-US" sz="2400" b="1" dirty="0">
                <a:sym typeface="+mn-ea"/>
              </a:rPr>
              <a:t>、机械臂覆盖操作</a:t>
            </a:r>
            <a:r>
              <a:rPr lang="zh-CN" altLang="en-US" sz="2400" b="1" dirty="0">
                <a:sym typeface="+mn-ea"/>
              </a:rPr>
              <a:t>范围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graphicFrame>
        <p:nvGraphicFramePr>
          <p:cNvPr id="5" name="表格 4"/>
          <p:cNvGraphicFramePr/>
          <p:nvPr/>
        </p:nvGraphicFramePr>
        <p:xfrm>
          <a:off x="672465" y="788670"/>
          <a:ext cx="1084770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45"/>
                <a:gridCol w="2059305"/>
                <a:gridCol w="2049145"/>
                <a:gridCol w="2103120"/>
                <a:gridCol w="918845"/>
                <a:gridCol w="245554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设备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官方操作平台</a:t>
                      </a:r>
                      <a:r>
                        <a:rPr lang="zh-CN" altLang="en-US"/>
                        <a:t>尺寸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仿真操作平台</a:t>
                      </a:r>
                      <a:r>
                        <a:rPr lang="zh-CN" altLang="en-US"/>
                        <a:t>尺寸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已验证扫描</a:t>
                      </a:r>
                      <a:r>
                        <a:rPr lang="zh-CN" altLang="en-US"/>
                        <a:t>尺寸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距平台边缘</a:t>
                      </a:r>
                      <a:r>
                        <a:rPr lang="en-US" altLang="zh-CN"/>
                        <a:t>(mm)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01 / H2D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350 × 320mm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350 × 320mm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320 × 289.9mm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82.83%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左右15，前10.1，后20</a:t>
                      </a:r>
                      <a:endParaRPr lang="zh-CN" altLang="en-US" b="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02 / H2D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350 × 320mm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350 × 320mm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320 × 289.9mm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82.83%</a:t>
                      </a:r>
                      <a:endParaRPr lang="en-US" altLang="zh-CN" sz="1800" b="1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左右15，前10.1，后20</a:t>
                      </a:r>
                      <a:endParaRPr lang="zh-CN" altLang="en-US" sz="1800" b="0"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03 / A1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235.86 × 235.86mm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84.88%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四边约10.07</a:t>
                      </a:r>
                      <a:endParaRPr lang="zh-CN" altLang="en-US" b="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04 / A1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235.86 × 235.86mm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84.88%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四边约10.07</a:t>
                      </a:r>
                      <a:endParaRPr lang="zh-CN" altLang="en-US" b="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05 / M3-ID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/>
                        <a:t>203 × 254mm</a:t>
                      </a:r>
                      <a:endParaRPr lang="en-US" altLang="zh-CN" b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/>
                        <a:t>203 × 253mm</a:t>
                      </a:r>
                      <a:endParaRPr lang="en-US" altLang="zh-CN" b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182.8 × 232.8mm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82.86%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四边约10.1</a:t>
                      </a: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06 / A1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235.86 × 235.86mm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84.88%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四边约10.07</a:t>
                      </a:r>
                      <a:endParaRPr lang="zh-CN" altLang="en-US" b="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07 / A1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256</a:t>
                      </a:r>
                      <a:r>
                        <a:rPr lang="en-US" altLang="zh-CN" sz="1800">
                          <a:sym typeface="+mn-ea"/>
                        </a:rPr>
                        <a:t> × 256mm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235.86 × 235.86mm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84.88%</a:t>
                      </a:r>
                      <a:endParaRPr lang="en-US" altLang="zh-CN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/>
                        <a:t>四边约10.07</a:t>
                      </a:r>
                      <a:endParaRPr lang="zh-CN" altLang="en-US" b="0"/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353945" y="3896360"/>
            <a:ext cx="7485380" cy="2954655"/>
            <a:chOff x="3707" y="6136"/>
            <a:chExt cx="11788" cy="46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rcRect b="10817"/>
            <a:stretch>
              <a:fillRect/>
            </a:stretch>
          </p:blipFill>
          <p:spPr>
            <a:xfrm>
              <a:off x="3707" y="6136"/>
              <a:ext cx="11788" cy="441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5" y="10407"/>
              <a:ext cx="7138" cy="38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1047750"/>
            <a:ext cx="6739890" cy="16992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36600" y="296545"/>
            <a:ext cx="8548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3</a:t>
            </a:r>
            <a:r>
              <a:rPr lang="zh-CN" altLang="en-US" sz="2400" b="1" dirty="0">
                <a:sym typeface="+mn-ea"/>
              </a:rPr>
              <a:t>、操作</a:t>
            </a:r>
            <a:r>
              <a:rPr lang="zh-CN" altLang="en-US" sz="2400" b="1" dirty="0">
                <a:sym typeface="+mn-ea"/>
              </a:rPr>
              <a:t>区域覆盖</a:t>
            </a:r>
            <a:r>
              <a:rPr lang="zh-CN" altLang="en-US" sz="2400" b="1" dirty="0">
                <a:sym typeface="+mn-ea"/>
              </a:rPr>
              <a:t>任务：蛇形路径扫描操作台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" y="5118100"/>
            <a:ext cx="6740525" cy="1729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6600" y="677545"/>
            <a:ext cx="2539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H2D</a:t>
            </a:r>
            <a:r>
              <a:rPr lang="zh-CN" altLang="en-US"/>
              <a:t>打印机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" y="3108960"/>
            <a:ext cx="6740525" cy="1709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6600" y="2743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A1</a:t>
            </a:r>
            <a:r>
              <a:rPr lang="zh-CN" altLang="en-US"/>
              <a:t>打印机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36600" y="4794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>
                <a:sym typeface="+mn-ea"/>
              </a:rPr>
              <a:t>MakerGear M3-ID</a:t>
            </a:r>
            <a:r>
              <a:rPr lang="zh-CN" altLang="en-US"/>
              <a:t>打印机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8175625" y="1132205"/>
            <a:ext cx="3917950" cy="4833620"/>
            <a:chOff x="12875" y="1144"/>
            <a:chExt cx="6170" cy="761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28764" t="94265" r="28235" b="-369"/>
            <a:stretch>
              <a:fillRect/>
            </a:stretch>
          </p:blipFill>
          <p:spPr>
            <a:xfrm>
              <a:off x="13579" y="8474"/>
              <a:ext cx="4712" cy="282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12875" y="1144"/>
              <a:ext cx="6171" cy="7286"/>
              <a:chOff x="12875" y="2464"/>
              <a:chExt cx="6171" cy="7286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rcRect r="66722" b="7482"/>
              <a:stretch>
                <a:fillRect/>
              </a:stretch>
            </p:blipFill>
            <p:spPr>
              <a:xfrm>
                <a:off x="12875" y="2464"/>
                <a:ext cx="3041" cy="3566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4"/>
              <a:srcRect l="33050" r="33672" b="7482"/>
              <a:stretch>
                <a:fillRect/>
              </a:stretch>
            </p:blipFill>
            <p:spPr>
              <a:xfrm>
                <a:off x="16008" y="2465"/>
                <a:ext cx="3039" cy="3564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4"/>
              <a:srcRect l="66795" b="7482"/>
              <a:stretch>
                <a:fillRect/>
              </a:stretch>
            </p:blipFill>
            <p:spPr>
              <a:xfrm>
                <a:off x="14415" y="6180"/>
                <a:ext cx="3040" cy="357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36600" y="296545"/>
            <a:ext cx="8548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4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en-US" altLang="zh-CN" sz="2400" b="1" dirty="0">
                <a:sym typeface="+mn-ea"/>
              </a:rPr>
              <a:t>H2D</a:t>
            </a:r>
            <a:r>
              <a:rPr lang="zh-CN" altLang="en-US" sz="2400" b="1" dirty="0">
                <a:sym typeface="+mn-ea"/>
              </a:rPr>
              <a:t>进行模型打印：基于</a:t>
            </a:r>
            <a:r>
              <a:rPr lang="en-US" altLang="zh-CN" sz="2400" b="1" dirty="0">
                <a:sym typeface="+mn-ea"/>
              </a:rPr>
              <a:t>gcode</a:t>
            </a:r>
            <a:r>
              <a:rPr lang="zh-CN" altLang="en-US" sz="2400" b="1" dirty="0">
                <a:sym typeface="+mn-ea"/>
              </a:rPr>
              <a:t>切片文件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36600" y="1014095"/>
            <a:ext cx="10287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导入</a:t>
            </a:r>
            <a:r>
              <a:rPr lang="en-US" altLang="zh-CN"/>
              <a:t>Bambu Studio</a:t>
            </a:r>
            <a:r>
              <a:rPr lang="zh-CN" altLang="en-US"/>
              <a:t>的切片文件，在仿真中展示模型从预热、逐层打印到冷却完成的全过程。</a:t>
            </a:r>
            <a:endParaRPr lang="zh-CN" altLang="en-US"/>
          </a:p>
        </p:txBody>
      </p:sp>
      <p:pic>
        <p:nvPicPr>
          <p:cNvPr id="5" name="暴力熊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68960" y="1809750"/>
            <a:ext cx="3593465" cy="2713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6600" y="1449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）暴力熊</a:t>
            </a:r>
            <a:endParaRPr lang="zh-CN" altLang="en-US"/>
          </a:p>
        </p:txBody>
      </p:sp>
      <p:pic>
        <p:nvPicPr>
          <p:cNvPr id="7" name="皮卡丘框架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38320" y="1809750"/>
            <a:ext cx="3591560" cy="27133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32300" y="144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）皮卡丘</a:t>
            </a:r>
            <a:r>
              <a:rPr lang="zh-CN" altLang="en-US"/>
              <a:t>框架</a:t>
            </a:r>
            <a:endParaRPr lang="zh-CN" altLang="en-US"/>
          </a:p>
        </p:txBody>
      </p:sp>
      <p:pic>
        <p:nvPicPr>
          <p:cNvPr id="9" name="悟空打坐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05775" y="1816735"/>
            <a:ext cx="3582670" cy="27070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28635" y="1449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）悟空</a:t>
            </a:r>
            <a:r>
              <a:rPr lang="zh-CN" altLang="en-US"/>
              <a:t>打坐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463550" y="4728845"/>
            <a:ext cx="351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特点</a:t>
            </a:r>
            <a:endParaRPr lang="zh-CN" altLang="en-US" b="1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4518025" y="4728845"/>
            <a:ext cx="351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局限性</a:t>
            </a:r>
            <a:endParaRPr lang="zh-CN" altLang="en-US" b="1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8572500" y="4728845"/>
            <a:ext cx="351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条件</a:t>
            </a:r>
            <a:endParaRPr lang="zh-CN" altLang="en-US" b="1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63550" y="5097145"/>
            <a:ext cx="396875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按文件打印</a:t>
            </a:r>
            <a:r>
              <a:rPr lang="zh-CN" altLang="en-US" sz="1600"/>
              <a:t>：根据切片路径逐层生成模型，呈现颜色、料道和支撑结构。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方便换模型</a:t>
            </a:r>
            <a:r>
              <a:rPr lang="zh-CN" altLang="en-US" sz="1600"/>
              <a:t>：更换符合要求的切片文件，即可复用打印流程。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便于观察</a:t>
            </a:r>
            <a:r>
              <a:rPr lang="zh-CN" altLang="en-US" sz="1600"/>
              <a:t>：支持加速观看，并输出打印过程视频。</a:t>
            </a:r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518025" y="509714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物理效果仍有近似</a:t>
            </a:r>
            <a:r>
              <a:rPr lang="zh-CN" altLang="en-US" sz="1600"/>
              <a:t>：部分参数尚未经过实机标定。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不能直接预测成品质量</a:t>
            </a:r>
            <a:r>
              <a:rPr lang="zh-CN" altLang="en-US" sz="1600"/>
              <a:t>：材料热变形、黏附及强度等复杂物理过程尚未实现。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1"/>
              <a:t>目前只支持 </a:t>
            </a:r>
            <a:r>
              <a:rPr lang="en-US" altLang="zh-CN" sz="1600" b="1"/>
              <a:t>H2D</a:t>
            </a:r>
            <a:r>
              <a:rPr lang="en-US" altLang="zh-CN" sz="1600"/>
              <a:t>：A1 </a:t>
            </a:r>
            <a:r>
              <a:rPr lang="zh-CN" altLang="en-US" sz="1600"/>
              <a:t>等机型需要进一步适配。</a:t>
            </a:r>
            <a:endParaRPr lang="zh-CN" altLang="en-US" sz="1600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572500" y="5097145"/>
            <a:ext cx="35941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使用</a:t>
            </a:r>
            <a:r>
              <a:rPr lang="en-US" altLang="zh-CN" sz="1600" b="1"/>
              <a:t>H2D、0.4 mm</a:t>
            </a:r>
            <a:r>
              <a:rPr lang="zh-CN" altLang="en-US" sz="1600" b="1"/>
              <a:t>喷嘴、单一耗材配置</a:t>
            </a:r>
            <a:r>
              <a:rPr lang="zh-CN" altLang="en-US" sz="1600"/>
              <a:t>导出的.</a:t>
            </a:r>
            <a:r>
              <a:rPr lang="en-US" altLang="zh-CN" sz="1600"/>
              <a:t>gcode.3mf </a:t>
            </a:r>
            <a:r>
              <a:rPr lang="zh-CN" altLang="en-US" sz="1600"/>
              <a:t>文件。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模型尺寸、复杂度和切片指令需</a:t>
            </a:r>
            <a:r>
              <a:rPr lang="zh-CN" altLang="en-US" sz="1600" b="1"/>
              <a:t>在支持范围内</a:t>
            </a:r>
            <a:r>
              <a:rPr lang="zh-CN" altLang="en-US" sz="1600"/>
              <a:t>，并通过系统检查。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893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8" dur="1324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0" dur="7968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11" repeatCount="indefinite" fill="remove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 fullScrn="0">
              <p:cMediaNode>
                <p:cTn id="12" repeatCount="indefinite" fill="remove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 fullScrn="0">
              <p:cMediaNode>
                <p:cTn id="13" repeatCount="indefinite" fill="remove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8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36600" y="296545"/>
            <a:ext cx="8548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5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zh-CN" altLang="en-US" sz="2400" b="1">
                <a:sym typeface="+mn-ea"/>
              </a:rPr>
              <a:t>表征区：设备摆放图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pic>
        <p:nvPicPr>
          <p:cNvPr id="2" name="图片 1" descr="capture.2026-10-12 13.23.53"/>
          <p:cNvPicPr>
            <a:picLocks noChangeAspect="1"/>
          </p:cNvPicPr>
          <p:nvPr/>
        </p:nvPicPr>
        <p:blipFill>
          <a:blip r:embed="rId1"/>
          <a:srcRect l="22028" r="17677"/>
          <a:stretch>
            <a:fillRect/>
          </a:stretch>
        </p:blipFill>
        <p:spPr>
          <a:xfrm>
            <a:off x="4546600" y="805815"/>
            <a:ext cx="3276600" cy="3057525"/>
          </a:xfrm>
          <a:prstGeom prst="rect">
            <a:avLst/>
          </a:prstGeom>
        </p:spPr>
      </p:pic>
      <p:pic>
        <p:nvPicPr>
          <p:cNvPr id="3" name="图片 2" descr="capture.2026-10-12 13.25.44"/>
          <p:cNvPicPr>
            <a:picLocks noChangeAspect="1"/>
          </p:cNvPicPr>
          <p:nvPr/>
        </p:nvPicPr>
        <p:blipFill>
          <a:blip r:embed="rId2"/>
          <a:srcRect l="22318" r="21026"/>
          <a:stretch>
            <a:fillRect/>
          </a:stretch>
        </p:blipFill>
        <p:spPr>
          <a:xfrm>
            <a:off x="7987665" y="805815"/>
            <a:ext cx="3092450" cy="30714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66280" y="4083050"/>
            <a:ext cx="51257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/>
              <a:t>表征区大小：</a:t>
            </a:r>
            <a:r>
              <a:rPr lang="en-US" altLang="zh-CN" b="1">
                <a:solidFill>
                  <a:srgbClr val="137D8D"/>
                </a:solidFill>
              </a:rPr>
              <a:t>2.00mX</a:t>
            </a:r>
            <a:r>
              <a:rPr lang="en-US" altLang="zh-CN" b="1">
                <a:solidFill>
                  <a:srgbClr val="137D8D"/>
                </a:solidFill>
                <a:sym typeface="+mn-ea"/>
              </a:rPr>
              <a:t>2.06m</a:t>
            </a:r>
            <a:r>
              <a:rPr lang="en-US" altLang="zh-CN" b="1">
                <a:solidFill>
                  <a:srgbClr val="137D8D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|</a:t>
            </a:r>
            <a:r>
              <a:rPr lang="en-US" altLang="zh-CN" b="1">
                <a:solidFill>
                  <a:srgbClr val="137D8D"/>
                </a:solidFill>
              </a:rPr>
              <a:t> </a:t>
            </a:r>
            <a:r>
              <a:rPr lang="zh-CN" altLang="en-US" b="1"/>
              <a:t>台面高度：</a:t>
            </a:r>
            <a:r>
              <a:rPr lang="en-US" altLang="zh-CN" b="1">
                <a:solidFill>
                  <a:srgbClr val="137D8D"/>
                </a:solidFill>
              </a:rPr>
              <a:t>0.80m 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/>
                </a:solidFill>
              </a:rPr>
              <a:t>拥有设备：</a:t>
            </a:r>
            <a:endParaRPr lang="zh-CN" altLang="en-US" b="1">
              <a:solidFill>
                <a:schemeClr val="tx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HMS40T </a:t>
            </a:r>
            <a:r>
              <a:rPr lang="zh-CN" altLang="en-US">
                <a:sym typeface="+mn-ea"/>
              </a:rPr>
              <a:t>电导率测量仪器</a:t>
            </a:r>
            <a:r>
              <a:rPr lang="en-US" altLang="zh-CN">
                <a:sym typeface="+mn-ea"/>
              </a:rPr>
              <a:t> x1</a:t>
            </a:r>
            <a:endParaRPr lang="zh-CN" altLang="en-US"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Discovery_HR10 </a:t>
            </a:r>
            <a:r>
              <a:rPr lang="zh-CN" altLang="en-US">
                <a:sym typeface="+mn-ea"/>
              </a:rPr>
              <a:t>流变仪</a:t>
            </a:r>
            <a:r>
              <a:rPr lang="en-US" altLang="zh-CN">
                <a:sym typeface="+mn-ea"/>
              </a:rPr>
              <a:t> x1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PW_US71 </a:t>
            </a:r>
            <a:r>
              <a:rPr lang="zh-CN" altLang="en-US">
                <a:sym typeface="+mn-ea"/>
              </a:rPr>
              <a:t>拉力器</a:t>
            </a:r>
            <a:r>
              <a:rPr lang="en-US" altLang="zh-CN">
                <a:sym typeface="+mn-ea"/>
              </a:rPr>
              <a:t> x1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Panda</a:t>
            </a:r>
            <a:r>
              <a:rPr lang="zh-CN" altLang="en-US">
                <a:solidFill>
                  <a:schemeClr val="tx1"/>
                </a:solidFill>
              </a:rPr>
              <a:t>机械臂</a:t>
            </a:r>
            <a:r>
              <a:rPr lang="en-US" altLang="zh-CN">
                <a:solidFill>
                  <a:schemeClr val="tx1"/>
                </a:solidFill>
              </a:rPr>
              <a:t>(AG-160-95)</a:t>
            </a:r>
            <a:endParaRPr lang="en-US" altLang="zh-CN">
              <a:solidFill>
                <a:schemeClr val="tx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、置物区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0890"/>
            <a:ext cx="4382770" cy="3976370"/>
          </a:xfrm>
          <a:prstGeom prst="rect">
            <a:avLst/>
          </a:prstGeom>
        </p:spPr>
      </p:pic>
      <p:pic>
        <p:nvPicPr>
          <p:cNvPr id="19" name="图片 18" descr="06_top"/>
          <p:cNvPicPr>
            <a:picLocks noChangeAspect="1"/>
          </p:cNvPicPr>
          <p:nvPr/>
        </p:nvPicPr>
        <p:blipFill>
          <a:blip r:embed="rId4"/>
          <a:srcRect l="18257" r="18464"/>
          <a:stretch>
            <a:fillRect/>
          </a:stretch>
        </p:blipFill>
        <p:spPr>
          <a:xfrm>
            <a:off x="4133850" y="3930015"/>
            <a:ext cx="2887980" cy="2853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36600" y="296545"/>
            <a:ext cx="8548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6</a:t>
            </a:r>
            <a:r>
              <a:rPr lang="zh-CN" altLang="en-US" sz="2400" b="1" dirty="0">
                <a:sym typeface="+mn-ea"/>
              </a:rPr>
              <a:t>、用于仿真环境</a:t>
            </a:r>
            <a:r>
              <a:rPr lang="zh-CN" altLang="en-US" sz="2400" b="1" dirty="0">
                <a:sym typeface="+mn-ea"/>
              </a:rPr>
              <a:t>的多摄像头监控</a:t>
            </a:r>
            <a:r>
              <a:rPr lang="zh-CN" altLang="en-US" sz="2400" b="1" dirty="0">
                <a:sym typeface="+mn-ea"/>
              </a:rPr>
              <a:t>系统：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pic>
        <p:nvPicPr>
          <p:cNvPr id="4" name="录屏_20261016_11371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75005" y="1517650"/>
            <a:ext cx="11039475" cy="51714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005" y="892175"/>
            <a:ext cx="8452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作用</a:t>
            </a:r>
            <a:r>
              <a:rPr lang="zh-CN" altLang="en-US"/>
              <a:t>：基于蓝牙连接通过</a:t>
            </a:r>
            <a:r>
              <a:rPr lang="en-US" altLang="zh-CN"/>
              <a:t>WiFi</a:t>
            </a:r>
            <a:r>
              <a:rPr lang="zh-CN" altLang="en-US"/>
              <a:t>进行视频数据传输的对多摄像机设备</a:t>
            </a:r>
            <a:r>
              <a:rPr lang="zh-CN" altLang="en-US"/>
              <a:t>进行实时</a:t>
            </a:r>
            <a:r>
              <a:rPr lang="zh-CN" altLang="en-US"/>
              <a:t>监控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36600" y="296545"/>
            <a:ext cx="85483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ym typeface="+mn-ea"/>
              </a:rPr>
              <a:t>6</a:t>
            </a:r>
            <a:r>
              <a:rPr lang="zh-CN" altLang="en-US" sz="2400" b="1" dirty="0">
                <a:sym typeface="+mn-ea"/>
              </a:rPr>
              <a:t>、用于仿真环境</a:t>
            </a:r>
            <a:r>
              <a:rPr lang="zh-CN" altLang="en-US" sz="2400" b="1" dirty="0">
                <a:sym typeface="+mn-ea"/>
              </a:rPr>
              <a:t>的多摄像头监控</a:t>
            </a:r>
            <a:r>
              <a:rPr lang="zh-CN" altLang="en-US" sz="2400" b="1" dirty="0">
                <a:sym typeface="+mn-ea"/>
              </a:rPr>
              <a:t>系统：</a:t>
            </a:r>
            <a:endParaRPr lang="zh-CN" altLang="en-US" sz="2400" b="1" dirty="0">
              <a:sym typeface="+mn-ea"/>
            </a:endParaRPr>
          </a:p>
          <a:p>
            <a:pPr lvl="0"/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36600" y="1002665"/>
            <a:ext cx="85483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特点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、多台相机设备进行统一管理。如：快捷启动、暂停、调节分辨率</a:t>
            </a:r>
            <a:r>
              <a:rPr lang="zh-CN" altLang="en-US"/>
              <a:t>等等；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、多台相机设备进行全部查看；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6600" y="2344420"/>
            <a:ext cx="85483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不足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台设备同时启动，帧率不稳定，需要</a:t>
            </a:r>
            <a:r>
              <a:rPr lang="zh-CN" altLang="en-US"/>
              <a:t>优化；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、时而出现连接错位、黑屏等现象，需要</a:t>
            </a:r>
            <a:r>
              <a:rPr lang="zh-CN" altLang="en-US"/>
              <a:t>优化；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3686175"/>
            <a:ext cx="85483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下一步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、加入设备语义识别，能够实时识别</a:t>
            </a:r>
            <a:r>
              <a:rPr lang="zh-CN" altLang="en-US"/>
              <a:t>设备；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、基于</a:t>
            </a:r>
            <a:r>
              <a:rPr lang="en-US" altLang="zh-CN"/>
              <a:t>ROS2</a:t>
            </a:r>
            <a:r>
              <a:rPr lang="zh-CN" altLang="en-US"/>
              <a:t>通信实现真实设备的实时状态</a:t>
            </a:r>
            <a:r>
              <a:rPr lang="zh-CN" altLang="en-US"/>
              <a:t>传输；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、后期可能加入世界模型，来预未来</a:t>
            </a:r>
            <a:r>
              <a:rPr lang="zh-CN" altLang="en-US"/>
              <a:t>帧；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、对于设备的异常现象能够进行角度和物理等</a:t>
            </a:r>
            <a:r>
              <a:rPr lang="zh-CN" altLang="en-US"/>
              <a:t>的预判。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ags/tag2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ags/tag3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ags/tag4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ags/tag5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ags/tag6.xml><?xml version="1.0" encoding="utf-8"?>
<p:tagLst xmlns:p="http://schemas.openxmlformats.org/presentationml/2006/main">
  <p:tag name="KSO_WM_DIAGRAM_VIRTUALLY_FRAME" val="{&quot;height&quot;:152.5,&quot;left&quot;:36.5,&quot;top&quot;:372.35,&quot;width&quot;:921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WPS 演示</Application>
  <PresentationFormat>宽屏</PresentationFormat>
  <Paragraphs>185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刘先生</dc:creator>
  <cp:lastModifiedBy>-炽冬。</cp:lastModifiedBy>
  <cp:revision>110</cp:revision>
  <dcterms:created xsi:type="dcterms:W3CDTF">2026-09-02T11:44:00Z</dcterms:created>
  <dcterms:modified xsi:type="dcterms:W3CDTF">2026-10-16T14:35:29Z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995CE03785804D8A9E50826ABF61F2C8_12</vt:lpwstr>
  </property>
</Properties>
</file>